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everyone — quick show of hands, who here has ever had to manually screen through a hundred resumes for one job opening? It's slow, it's inconsistent, and it's exhausting. That's the problem we set out to fix. We built Resumeeit — a Smart Shortlisting Engine that doesn't just score resumes, it runs the entire hiring pipeline, from the job description all the way to a signed offer, and it explains every single decision it makes along the way. Let's walk through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hackathon's own problem statement lays out exactly why this is hard: you're not scoring one resume, you're ranking an entire pool against one job, at scale. Strong candidates rarely mirror the JD's exact wording. Specific tools named in the JD still genuinely matter. And whatever ranking you produce has to be explainable, not a black box. And here's the constraint that shaped our whole approach — the brief is explicit that just pasting a resume and a JD into an LLM and asking for a score out of 100 does not count. Our system had to genuinely do the matching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our engine genuinely combines two signals, computed independently. The keyword layer is a curated vocabulary matched with regex — plus recruiters can add their own must-have or preferred keywords, and every single skill gets its own weight. The semantic layer uses sentence embeddings to compare meaning, not literal words. And here's the moment that really shows why this matters — if a resume says it built REST APIs with Node.js and MongoDB, our engine infers that the candidate has likely used Express, even though that word never appears anywhere on the page. That's the exact example from the problem statement, and we handle it directly — and we always show whether a skill was matched explicitly or just inferred, so nothing gets silently treated as equivalent.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didn't want this to be a black box, so literally every constant in the scoring formula is exposed as a slider in the product — the semantic-versus-keyword balance, the base weight for required and preferred skills, even how much credit an inferred-only match gets. On top of that, we extract real candidate signals with NLP: years of experience, CGPA, education level, field of study. And we were careful here — years of experience is scoped to the actual work-experience section, so a degree's twenty-twenty to twenty-twenty-four never gets miscounted as four years on the job. And if we can't verify something, it's marked N/A and never silently used against a candidate.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Ranking is only useful if a recruiter can trust it, so explainability runs through the whole product. For the top three candidates we generate a plain-language explanation naming exactly which skills matched, which were inferred, and which are missing — built from the same data used to score them, not a separate made-up narration. Then there's the recruiter chatbot — completely offline, no LLM, no network call. You can literally type ‘why is Jane ranked above Bob’ and it parses that question and answers from the real computed ranking data. I'll actually show that live in the demo. And every resume can be opened as a real in-browser PDF or DOCX viewer with the matched and inferred skills highlighted right on the document, so you're looking at evidence, not just a claim.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didn't stop at ranking. The shortlist flows into a full six-step pipeline that turns this from a scoring script into an actual hiring product. Upload the JD and tune the criteria, batch-upload resumes — we've tested this at over two hundred at once — get pool-level analytics, work through the paginated shortlist with the chatbot at your side, track candidates through interview and offer stages with one-click Google Calendar and Meet scheduling, and finally generate a real offer letter as a PDF along with a personalized offer email. Start to finish, job description to signed offer.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more things we built because we thought they'd genuinely help a recruiter, not just to check a box. First, JD bias detection — it scans the job description itself for gendered or ageist language, for experience requirements that don't match the seniority of the role, and for requirement lists so long that almost no real candidate could ever tick every box. Second, messy resume handling — if a PDF is a scanned image or corrupted, that one file gets isolated and flagged, it never takes down the whole batch. Both of these were explicitly called out as bonus directions in the brief, and we treated them as real product features, not afterthoughts.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Quickly on the stack, mostly for credibility. React and Vite on the front end, with pdf.js and mammoth.js giving us real in-browser document rendering, and jsPDF for generating offer letters and reports. FastAPI and Python on the backend, running screening as a background job — we benchmarked over two hundred resumes end-to-end in under a minute with live progress. And for the ML — sentence-transformers for the embeddings, spaCy for named-entity recognition, and scikit-learn as a graceful fallback. That's deliberate — if a heavier model isn't available, the system degrades gracefully instead of just crashing.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couple of concrete numbers instead of just claims. In our test batches the ranking produces a real spread — scores like ninety-two, down to twenty, down to zero — not everyone clustered around the same indistinguishable number. That matters because a ranking that can't tell candidates apart isn't actually useful to a recruiter. And on scale: we benchmarked a two-hundred-and-four resume batch end to end, parsing, embedding, and scoring, in under sixty seconds, with live progress the whole way. This isn't a demo that only works on three sample resumes.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that's Resumeeit — from a job description to a signed offer, one pipeline, and every decision along the way is explainable, not a black box. We'd love to walk through the code, the matching engine internals, or run a live demo right now if the judges want to see it in action. Thank you — happy to take any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_MASTER">
    <p:bg>
      <p:bgPr>
        <a:solidFill>
          <a:srgbClr val="0A0A0A"/>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0A0A"/>
        </a:solidFill>
      </p:bgPr>
    </p:bg>
    <p:spTree>
      <p:nvGrpSpPr>
        <p:cNvPr id="1" name=""/>
        <p:cNvGrpSpPr/>
        <p:nvPr/>
      </p:nvGrpSpPr>
      <p:grpSpPr>
        <a:xfrm>
          <a:off x="0" y="0"/>
          <a:ext cx="0" cy="0"/>
          <a:chOff x="0" y="0"/>
          <a:chExt cx="0" cy="0"/>
        </a:xfrm>
      </p:grpSpPr>
      <p:sp>
        <p:nvSpPr>
          <p:cNvPr id="2" name="Shape 0"/>
          <p:cNvSpPr/>
          <p:nvPr/>
        </p:nvSpPr>
        <p:spPr>
          <a:xfrm>
            <a:off x="8046720" y="-2011680"/>
            <a:ext cx="6400800" cy="6400800"/>
          </a:xfrm>
          <a:prstGeom prst="ellipse">
            <a:avLst/>
          </a:prstGeom>
          <a:solidFill>
            <a:srgbClr val="5E5CE6">
              <a:alpha val="12000"/>
            </a:srgbClr>
          </a:solidFill>
          <a:ln/>
        </p:spPr>
      </p:sp>
      <p:sp>
        <p:nvSpPr>
          <p:cNvPr id="3" name="Shape 1"/>
          <p:cNvSpPr/>
          <p:nvPr/>
        </p:nvSpPr>
        <p:spPr>
          <a:xfrm>
            <a:off x="-1828800" y="4114800"/>
            <a:ext cx="4572000" cy="4572000"/>
          </a:xfrm>
          <a:prstGeom prst="ellipse">
            <a:avLst/>
          </a:prstGeom>
          <a:solidFill>
            <a:srgbClr val="5E5CE6">
              <a:alpha val="8000"/>
            </a:srgbClr>
          </a:solidFill>
          <a:ln/>
        </p:spPr>
      </p:sp>
      <p:sp>
        <p:nvSpPr>
          <p:cNvPr id="4" name="Text 2"/>
          <p:cNvSpPr txBox="1"/>
          <p:nvPr/>
        </p:nvSpPr>
        <p:spPr>
          <a:xfrm>
            <a:off x="822960" y="1965960"/>
            <a:ext cx="3657600" cy="365760"/>
          </a:xfrm>
          <a:prstGeom prst="rect">
            <a:avLst/>
          </a:prstGeom>
          <a:noFill/>
          <a:ln/>
        </p:spPr>
        <p:txBody>
          <a:bodyPr wrap="square" lIns="0" tIns="0" rIns="0" bIns="0" rtlCol="0" anchor="ctr"/>
          <a:lstStyle/>
          <a:p>
            <a:pPr indent="0" marL="0">
              <a:buNone/>
            </a:pPr>
            <a:r>
              <a:rPr lang="en-US" sz="1200" b="1" spc="300" kern="0" dirty="0">
                <a:solidFill>
                  <a:srgbClr val="5E5CE6"/>
                </a:solidFill>
                <a:latin typeface="Calibri" pitchFamily="34" charset="0"/>
                <a:ea typeface="Calibri" pitchFamily="34" charset="-122"/>
                <a:cs typeface="Calibri" pitchFamily="34" charset="-120"/>
              </a:rPr>
              <a:t>NOW PRESENTING</a:t>
            </a:r>
            <a:endParaRPr lang="en-US" sz="1200" dirty="0"/>
          </a:p>
        </p:txBody>
      </p:sp>
      <p:sp>
        <p:nvSpPr>
          <p:cNvPr id="5" name="Text 3"/>
          <p:cNvSpPr txBox="1"/>
          <p:nvPr/>
        </p:nvSpPr>
        <p:spPr>
          <a:xfrm>
            <a:off x="777240" y="2331720"/>
            <a:ext cx="10515600" cy="1371600"/>
          </a:xfrm>
          <a:prstGeom prst="rect">
            <a:avLst/>
          </a:prstGeom>
          <a:noFill/>
          <a:ln/>
        </p:spPr>
        <p:txBody>
          <a:bodyPr wrap="square" lIns="0" tIns="0" rIns="0" bIns="0" rtlCol="0" anchor="ctr"/>
          <a:lstStyle/>
          <a:p>
            <a:pPr indent="0" marL="0">
              <a:buNone/>
            </a:pPr>
            <a:r>
              <a:rPr lang="en-US" sz="6400" b="1" dirty="0">
                <a:solidFill>
                  <a:srgbClr val="F5F5F7"/>
                </a:solidFill>
                <a:latin typeface="Calibri" pitchFamily="34" charset="0"/>
                <a:ea typeface="Calibri" pitchFamily="34" charset="-122"/>
                <a:cs typeface="Calibri" pitchFamily="34" charset="-120"/>
              </a:rPr>
              <a:t>Resumeeit</a:t>
            </a:r>
            <a:endParaRPr lang="en-US" sz="6400" dirty="0"/>
          </a:p>
        </p:txBody>
      </p:sp>
      <p:sp>
        <p:nvSpPr>
          <p:cNvPr id="6" name="Text 4"/>
          <p:cNvSpPr txBox="1"/>
          <p:nvPr/>
        </p:nvSpPr>
        <p:spPr>
          <a:xfrm>
            <a:off x="822960" y="3429000"/>
            <a:ext cx="10058400" cy="731520"/>
          </a:xfrm>
          <a:prstGeom prst="rect">
            <a:avLst/>
          </a:prstGeom>
          <a:noFill/>
          <a:ln/>
        </p:spPr>
        <p:txBody>
          <a:bodyPr wrap="square" lIns="0" tIns="0" rIns="0" bIns="0" rtlCol="0" anchor="ctr"/>
          <a:lstStyle/>
          <a:p>
            <a:pPr indent="0" marL="0">
              <a:buNone/>
            </a:pPr>
            <a:r>
              <a:rPr lang="en-US" sz="2800" dirty="0">
                <a:solidFill>
                  <a:srgbClr val="5E5CE6"/>
                </a:solidFill>
                <a:latin typeface="Calibri" pitchFamily="34" charset="0"/>
                <a:ea typeface="Calibri" pitchFamily="34" charset="-122"/>
                <a:cs typeface="Calibri" pitchFamily="34" charset="-120"/>
              </a:rPr>
              <a:t>Smart Shortlisting Engine</a:t>
            </a:r>
            <a:endParaRPr lang="en-US" sz="2800" dirty="0"/>
          </a:p>
        </p:txBody>
      </p:sp>
      <p:sp>
        <p:nvSpPr>
          <p:cNvPr id="7" name="Text 5"/>
          <p:cNvSpPr txBox="1"/>
          <p:nvPr/>
        </p:nvSpPr>
        <p:spPr>
          <a:xfrm>
            <a:off x="822960" y="4160520"/>
            <a:ext cx="8686800" cy="548640"/>
          </a:xfrm>
          <a:prstGeom prst="rect">
            <a:avLst/>
          </a:prstGeom>
          <a:noFill/>
          <a:ln/>
        </p:spPr>
        <p:txBody>
          <a:bodyPr wrap="square" lIns="0" tIns="0" rIns="0" bIns="0" rtlCol="0" anchor="ctr"/>
          <a:lstStyle/>
          <a:p>
            <a:pPr indent="0" marL="0">
              <a:buNone/>
            </a:pPr>
            <a:r>
              <a:rPr lang="en-US" sz="1500" dirty="0">
                <a:solidFill>
                  <a:srgbClr val="9A9AA2"/>
                </a:solidFill>
                <a:latin typeface="Calibri" pitchFamily="34" charset="0"/>
                <a:ea typeface="Calibri" pitchFamily="34" charset="-122"/>
                <a:cs typeface="Calibri" pitchFamily="34" charset="-120"/>
              </a:rPr>
              <a:t>An AI-powered hiring pipeline: job description to offer, fully explainable at every step.</a:t>
            </a:r>
            <a:endParaRPr lang="en-US" sz="1500" dirty="0"/>
          </a:p>
        </p:txBody>
      </p:sp>
      <p:sp>
        <p:nvSpPr>
          <p:cNvPr id="8" name="Shape 6"/>
          <p:cNvSpPr/>
          <p:nvPr/>
        </p:nvSpPr>
        <p:spPr>
          <a:xfrm>
            <a:off x="822960" y="5120640"/>
            <a:ext cx="6035040" cy="566928"/>
          </a:xfrm>
          <a:prstGeom prst="roundRect">
            <a:avLst>
              <a:gd name="adj" fmla="val 19355"/>
            </a:avLst>
          </a:prstGeom>
          <a:solidFill>
            <a:srgbClr val="17171B"/>
          </a:solidFill>
          <a:ln/>
        </p:spPr>
      </p:sp>
      <p:sp>
        <p:nvSpPr>
          <p:cNvPr id="9" name="Text 7"/>
          <p:cNvSpPr txBox="1"/>
          <p:nvPr/>
        </p:nvSpPr>
        <p:spPr>
          <a:xfrm>
            <a:off x="822960" y="5120640"/>
            <a:ext cx="6035040" cy="566928"/>
          </a:xfrm>
          <a:prstGeom prst="rect">
            <a:avLst/>
          </a:prstGeom>
          <a:noFill/>
          <a:ln/>
        </p:spPr>
        <p:txBody>
          <a:bodyPr wrap="square" lIns="0" tIns="0" rIns="0" bIns="0" rtlCol="0" anchor="ctr"/>
          <a:lstStyle/>
          <a:p>
            <a:pPr algn="ctr" indent="0" marL="0">
              <a:buNone/>
            </a:pPr>
            <a:r>
              <a:rPr lang="en-US" sz="1300" b="1" dirty="0">
                <a:solidFill>
                  <a:srgbClr val="F5F5F7"/>
                </a:solidFill>
                <a:latin typeface="Calibri" pitchFamily="34" charset="0"/>
                <a:ea typeface="Calibri" pitchFamily="34" charset="-122"/>
                <a:cs typeface="Calibri" pitchFamily="34" charset="-120"/>
              </a:rPr>
              <a:t>InternLoom AI Hackathon   ·   Manipal Institute of Technology</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0A0A"/>
        </a:solidFill>
      </p:bgPr>
    </p:bg>
    <p:spTree>
      <p:nvGrpSpPr>
        <p:cNvPr id="1" name=""/>
        <p:cNvGrpSpPr/>
        <p:nvPr/>
      </p:nvGrpSpPr>
      <p:grpSpPr>
        <a:xfrm>
          <a:off x="0" y="0"/>
          <a:ext cx="0" cy="0"/>
          <a:chOff x="0" y="0"/>
          <a:chExt cx="0" cy="0"/>
        </a:xfrm>
      </p:grpSpPr>
      <p:sp>
        <p:nvSpPr>
          <p:cNvPr id="2" name="Text 0"/>
          <p:cNvSpPr txBox="1"/>
          <p:nvPr/>
        </p:nvSpPr>
        <p:spPr>
          <a:xfrm>
            <a:off x="640080" y="502920"/>
            <a:ext cx="7315200" cy="320040"/>
          </a:xfrm>
          <a:prstGeom prst="rect">
            <a:avLst/>
          </a:prstGeom>
          <a:noFill/>
          <a:ln/>
        </p:spPr>
        <p:txBody>
          <a:bodyPr wrap="square" lIns="0" tIns="0" rIns="0" bIns="0" rtlCol="0" anchor="ctr"/>
          <a:lstStyle/>
          <a:p>
            <a:pPr indent="0" marL="0">
              <a:buNone/>
            </a:pPr>
            <a:r>
              <a:rPr lang="en-US" sz="1200" b="1" spc="200" kern="0" dirty="0">
                <a:solidFill>
                  <a:srgbClr val="5E5CE6"/>
                </a:solidFill>
                <a:latin typeface="Calibri" pitchFamily="34" charset="0"/>
                <a:ea typeface="Calibri" pitchFamily="34" charset="-122"/>
                <a:cs typeface="Calibri" pitchFamily="34" charset="-120"/>
              </a:rPr>
              <a:t>THE PROBLEM</a:t>
            </a:r>
            <a:endParaRPr lang="en-US" sz="1200" dirty="0"/>
          </a:p>
        </p:txBody>
      </p:sp>
      <p:sp>
        <p:nvSpPr>
          <p:cNvPr id="3" name="Text 1"/>
          <p:cNvSpPr txBox="1"/>
          <p:nvPr/>
        </p:nvSpPr>
        <p:spPr>
          <a:xfrm>
            <a:off x="640080" y="822960"/>
            <a:ext cx="10789920" cy="1371600"/>
          </a:xfrm>
          <a:prstGeom prst="rect">
            <a:avLst/>
          </a:prstGeom>
          <a:noFill/>
          <a:ln/>
        </p:spPr>
        <p:txBody>
          <a:bodyPr wrap="square" lIns="0" tIns="0" rIns="0" bIns="0" rtlCol="0" anchor="ctr"/>
          <a:lstStyle/>
          <a:p>
            <a:pPr indent="0" marL="0">
              <a:buNone/>
            </a:pPr>
            <a:r>
              <a:rPr lang="en-US" sz="3600" b="1" dirty="0">
                <a:solidFill>
                  <a:srgbClr val="F5F5F7"/>
                </a:solidFill>
                <a:latin typeface="Calibri" pitchFamily="34" charset="0"/>
                <a:ea typeface="Calibri" pitchFamily="34" charset="-122"/>
                <a:cs typeface="Calibri" pitchFamily="34" charset="-120"/>
              </a:rPr>
              <a:t>Ranking resumes at scale</a:t>
            </a:r>
            <a:endParaRPr lang="en-US" sz="3600" dirty="0"/>
          </a:p>
          <a:p>
            <a:pPr indent="0" marL="0">
              <a:buNone/>
            </a:pPr>
            <a:r>
              <a:rPr lang="en-US" sz="3600" b="1" dirty="0">
                <a:solidFill>
                  <a:srgbClr val="F5F5F7"/>
                </a:solidFill>
                <a:latin typeface="Calibri" pitchFamily="34" charset="0"/>
                <a:ea typeface="Calibri" pitchFamily="34" charset="-122"/>
                <a:cs typeface="Calibri" pitchFamily="34" charset="-120"/>
              </a:rPr>
              <a:t>is genuinely hard</a:t>
            </a:r>
            <a:endParaRPr lang="en-US" sz="3600" dirty="0"/>
          </a:p>
        </p:txBody>
      </p:sp>
      <p:sp>
        <p:nvSpPr>
          <p:cNvPr id="4" name="Shape 2"/>
          <p:cNvSpPr/>
          <p:nvPr/>
        </p:nvSpPr>
        <p:spPr>
          <a:xfrm>
            <a:off x="640080" y="2331720"/>
            <a:ext cx="5074920" cy="914400"/>
          </a:xfrm>
          <a:prstGeom prst="roundRect">
            <a:avLst>
              <a:gd name="adj" fmla="val 12000"/>
            </a:avLst>
          </a:prstGeom>
          <a:solidFill>
            <a:srgbClr val="17171B"/>
          </a:solidFill>
          <a:ln/>
          <a:effectLst>
            <a:outerShdw sx="100000" sy="100000" kx="0" ky="0" algn="bl" rotWithShape="0" blurRad="101600" dist="38100" dir="5400000">
              <a:srgbClr val="000000">
                <a:alpha val="35000"/>
              </a:srgbClr>
            </a:outerShdw>
          </a:effectLst>
        </p:spPr>
      </p:sp>
      <p:sp>
        <p:nvSpPr>
          <p:cNvPr id="5" name="Shape 3"/>
          <p:cNvSpPr/>
          <p:nvPr/>
        </p:nvSpPr>
        <p:spPr>
          <a:xfrm>
            <a:off x="841248" y="2505456"/>
            <a:ext cx="502920" cy="502920"/>
          </a:xfrm>
          <a:prstGeom prst="ellipse">
            <a:avLst/>
          </a:prstGeom>
          <a:solidFill>
            <a:srgbClr val="3A3A8C"/>
          </a:solidFill>
          <a:ln/>
        </p:spPr>
      </p:sp>
      <p:sp>
        <p:nvSpPr>
          <p:cNvPr id="6" name="Text 4"/>
          <p:cNvSpPr txBox="1"/>
          <p:nvPr/>
        </p:nvSpPr>
        <p:spPr>
          <a:xfrm>
            <a:off x="841248" y="2487168"/>
            <a:ext cx="502920" cy="502920"/>
          </a:xfrm>
          <a:prstGeom prst="rect">
            <a:avLst/>
          </a:prstGeom>
          <a:noFill/>
          <a:ln/>
        </p:spPr>
        <p:txBody>
          <a:bodyPr wrap="square" lIns="0" tIns="0" rIns="0" bIns="0" rtlCol="0" anchor="ctr"/>
          <a:lstStyle/>
          <a:p>
            <a:pPr algn="ctr" indent="0" marL="0">
              <a:buNone/>
            </a:pPr>
            <a:r>
              <a:rPr lang="en-US" sz="2000" b="1" dirty="0">
                <a:solidFill>
                  <a:srgbClr val="5E5CE6"/>
                </a:solidFill>
                <a:latin typeface="Calibri" pitchFamily="34" charset="0"/>
                <a:ea typeface="Calibri" pitchFamily="34" charset="-122"/>
                <a:cs typeface="Calibri" pitchFamily="34" charset="-120"/>
              </a:rPr>
              <a:t>!</a:t>
            </a:r>
            <a:endParaRPr lang="en-US" sz="2000" dirty="0"/>
          </a:p>
        </p:txBody>
      </p:sp>
      <p:sp>
        <p:nvSpPr>
          <p:cNvPr id="7" name="Text 5"/>
          <p:cNvSpPr txBox="1"/>
          <p:nvPr/>
        </p:nvSpPr>
        <p:spPr>
          <a:xfrm>
            <a:off x="1508760" y="2441448"/>
            <a:ext cx="4069080" cy="320040"/>
          </a:xfrm>
          <a:prstGeom prst="rect">
            <a:avLst/>
          </a:prstGeom>
          <a:noFill/>
          <a:ln/>
        </p:spPr>
        <p:txBody>
          <a:bodyPr wrap="square" lIns="0" tIns="0" rIns="0" bIns="0" rtlCol="0" anchor="ctr"/>
          <a:lstStyle/>
          <a:p>
            <a:pPr indent="0" marL="0">
              <a:buNone/>
            </a:pPr>
            <a:r>
              <a:rPr lang="en-US" sz="1450" b="1" dirty="0">
                <a:solidFill>
                  <a:srgbClr val="F5F5F7"/>
                </a:solidFill>
                <a:latin typeface="Calibri" pitchFamily="34" charset="0"/>
                <a:ea typeface="Calibri" pitchFamily="34" charset="-122"/>
                <a:cs typeface="Calibri" pitchFamily="34" charset="-120"/>
              </a:rPr>
              <a:t>Scale breaks manual review</a:t>
            </a:r>
            <a:endParaRPr lang="en-US" sz="1450" dirty="0"/>
          </a:p>
        </p:txBody>
      </p:sp>
      <p:sp>
        <p:nvSpPr>
          <p:cNvPr id="8" name="Text 6"/>
          <p:cNvSpPr txBox="1"/>
          <p:nvPr/>
        </p:nvSpPr>
        <p:spPr>
          <a:xfrm>
            <a:off x="1508760" y="2752344"/>
            <a:ext cx="4023360" cy="438912"/>
          </a:xfrm>
          <a:prstGeom prst="rect">
            <a:avLst/>
          </a:prstGeom>
          <a:noFill/>
          <a:ln/>
        </p:spPr>
        <p:txBody>
          <a:bodyPr wrap="square" lIns="0" tIns="0" rIns="0" bIns="0" rtlCol="0" anchor="ctr"/>
          <a:lstStyle/>
          <a:p>
            <a:pPr indent="0" marL="0">
              <a:buNone/>
            </a:pPr>
            <a:r>
              <a:rPr lang="en-US" sz="1100" dirty="0">
                <a:solidFill>
                  <a:srgbClr val="9A9AA2"/>
                </a:solidFill>
                <a:latin typeface="Calibri" pitchFamily="34" charset="0"/>
                <a:ea typeface="Calibri" pitchFamily="34" charset="-122"/>
                <a:cs typeface="Calibri" pitchFamily="34" charset="-120"/>
              </a:rPr>
              <a:t>15–18+ resumes per role, every role — recruiters can't read them all closely.</a:t>
            </a:r>
            <a:endParaRPr lang="en-US" sz="1100" dirty="0"/>
          </a:p>
        </p:txBody>
      </p:sp>
      <p:sp>
        <p:nvSpPr>
          <p:cNvPr id="9" name="Shape 7"/>
          <p:cNvSpPr/>
          <p:nvPr/>
        </p:nvSpPr>
        <p:spPr>
          <a:xfrm>
            <a:off x="6172200" y="2331720"/>
            <a:ext cx="5074920" cy="914400"/>
          </a:xfrm>
          <a:prstGeom prst="roundRect">
            <a:avLst>
              <a:gd name="adj" fmla="val 12000"/>
            </a:avLst>
          </a:prstGeom>
          <a:solidFill>
            <a:srgbClr val="17171B"/>
          </a:solidFill>
          <a:ln/>
          <a:effectLst>
            <a:outerShdw sx="100000" sy="100000" kx="0" ky="0" algn="bl" rotWithShape="0" blurRad="101600" dist="38100" dir="5400000">
              <a:srgbClr val="000000">
                <a:alpha val="35000"/>
              </a:srgbClr>
            </a:outerShdw>
          </a:effectLst>
        </p:spPr>
      </p:sp>
      <p:sp>
        <p:nvSpPr>
          <p:cNvPr id="10" name="Shape 8"/>
          <p:cNvSpPr/>
          <p:nvPr/>
        </p:nvSpPr>
        <p:spPr>
          <a:xfrm>
            <a:off x="6373368" y="2505456"/>
            <a:ext cx="502920" cy="502920"/>
          </a:xfrm>
          <a:prstGeom prst="ellipse">
            <a:avLst/>
          </a:prstGeom>
          <a:solidFill>
            <a:srgbClr val="3A3A8C"/>
          </a:solidFill>
          <a:ln/>
        </p:spPr>
      </p:sp>
      <p:sp>
        <p:nvSpPr>
          <p:cNvPr id="11" name="Text 9"/>
          <p:cNvSpPr txBox="1"/>
          <p:nvPr/>
        </p:nvSpPr>
        <p:spPr>
          <a:xfrm>
            <a:off x="6373368" y="2487168"/>
            <a:ext cx="502920" cy="502920"/>
          </a:xfrm>
          <a:prstGeom prst="rect">
            <a:avLst/>
          </a:prstGeom>
          <a:noFill/>
          <a:ln/>
        </p:spPr>
        <p:txBody>
          <a:bodyPr wrap="square" lIns="0" tIns="0" rIns="0" bIns="0" rtlCol="0" anchor="ctr"/>
          <a:lstStyle/>
          <a:p>
            <a:pPr algn="ctr" indent="0" marL="0">
              <a:buNone/>
            </a:pPr>
            <a:r>
              <a:rPr lang="en-US" sz="2000" b="1" dirty="0">
                <a:solidFill>
                  <a:srgbClr val="5E5CE6"/>
                </a:solidFill>
                <a:latin typeface="Calibri" pitchFamily="34" charset="0"/>
                <a:ea typeface="Calibri" pitchFamily="34" charset="-122"/>
                <a:cs typeface="Calibri" pitchFamily="34" charset="-120"/>
              </a:rPr>
              <a:t>!</a:t>
            </a:r>
            <a:endParaRPr lang="en-US" sz="2000" dirty="0"/>
          </a:p>
        </p:txBody>
      </p:sp>
      <p:sp>
        <p:nvSpPr>
          <p:cNvPr id="12" name="Text 10"/>
          <p:cNvSpPr txBox="1"/>
          <p:nvPr/>
        </p:nvSpPr>
        <p:spPr>
          <a:xfrm>
            <a:off x="7040880" y="2441448"/>
            <a:ext cx="4069080" cy="320040"/>
          </a:xfrm>
          <a:prstGeom prst="rect">
            <a:avLst/>
          </a:prstGeom>
          <a:noFill/>
          <a:ln/>
        </p:spPr>
        <p:txBody>
          <a:bodyPr wrap="square" lIns="0" tIns="0" rIns="0" bIns="0" rtlCol="0" anchor="ctr"/>
          <a:lstStyle/>
          <a:p>
            <a:pPr indent="0" marL="0">
              <a:buNone/>
            </a:pPr>
            <a:r>
              <a:rPr lang="en-US" sz="1450" b="1" dirty="0">
                <a:solidFill>
                  <a:srgbClr val="F5F5F7"/>
                </a:solidFill>
                <a:latin typeface="Calibri" pitchFamily="34" charset="0"/>
                <a:ea typeface="Calibri" pitchFamily="34" charset="-122"/>
                <a:cs typeface="Calibri" pitchFamily="34" charset="-120"/>
              </a:rPr>
              <a:t>Strong candidates use different words</a:t>
            </a:r>
            <a:endParaRPr lang="en-US" sz="1450" dirty="0"/>
          </a:p>
        </p:txBody>
      </p:sp>
      <p:sp>
        <p:nvSpPr>
          <p:cNvPr id="13" name="Text 11"/>
          <p:cNvSpPr txBox="1"/>
          <p:nvPr/>
        </p:nvSpPr>
        <p:spPr>
          <a:xfrm>
            <a:off x="7040880" y="2752344"/>
            <a:ext cx="4023360" cy="438912"/>
          </a:xfrm>
          <a:prstGeom prst="rect">
            <a:avLst/>
          </a:prstGeom>
          <a:noFill/>
          <a:ln/>
        </p:spPr>
        <p:txBody>
          <a:bodyPr wrap="square" lIns="0" tIns="0" rIns="0" bIns="0" rtlCol="0" anchor="ctr"/>
          <a:lstStyle/>
          <a:p>
            <a:pPr indent="0" marL="0">
              <a:buNone/>
            </a:pPr>
            <a:r>
              <a:rPr lang="en-US" sz="1100" dirty="0">
                <a:solidFill>
                  <a:srgbClr val="9A9AA2"/>
                </a:solidFill>
                <a:latin typeface="Calibri" pitchFamily="34" charset="0"/>
                <a:ea typeface="Calibri" pitchFamily="34" charset="-122"/>
                <a:cs typeface="Calibri" pitchFamily="34" charset="-120"/>
              </a:rPr>
              <a:t>A great Node.js developer might never type the word “Node.js.”</a:t>
            </a:r>
            <a:endParaRPr lang="en-US" sz="1100" dirty="0"/>
          </a:p>
        </p:txBody>
      </p:sp>
      <p:sp>
        <p:nvSpPr>
          <p:cNvPr id="14" name="Shape 12"/>
          <p:cNvSpPr/>
          <p:nvPr/>
        </p:nvSpPr>
        <p:spPr>
          <a:xfrm>
            <a:off x="640080" y="3474720"/>
            <a:ext cx="5074920" cy="914400"/>
          </a:xfrm>
          <a:prstGeom prst="roundRect">
            <a:avLst>
              <a:gd name="adj" fmla="val 12000"/>
            </a:avLst>
          </a:prstGeom>
          <a:solidFill>
            <a:srgbClr val="17171B"/>
          </a:solidFill>
          <a:ln/>
          <a:effectLst>
            <a:outerShdw sx="100000" sy="100000" kx="0" ky="0" algn="bl" rotWithShape="0" blurRad="101600" dist="38100" dir="5400000">
              <a:srgbClr val="000000">
                <a:alpha val="35000"/>
              </a:srgbClr>
            </a:outerShdw>
          </a:effectLst>
        </p:spPr>
      </p:sp>
      <p:sp>
        <p:nvSpPr>
          <p:cNvPr id="15" name="Shape 13"/>
          <p:cNvSpPr/>
          <p:nvPr/>
        </p:nvSpPr>
        <p:spPr>
          <a:xfrm>
            <a:off x="841248" y="3648456"/>
            <a:ext cx="502920" cy="502920"/>
          </a:xfrm>
          <a:prstGeom prst="ellipse">
            <a:avLst/>
          </a:prstGeom>
          <a:solidFill>
            <a:srgbClr val="3A3A8C"/>
          </a:solidFill>
          <a:ln/>
        </p:spPr>
      </p:sp>
      <p:sp>
        <p:nvSpPr>
          <p:cNvPr id="16" name="Text 14"/>
          <p:cNvSpPr txBox="1"/>
          <p:nvPr/>
        </p:nvSpPr>
        <p:spPr>
          <a:xfrm>
            <a:off x="841248" y="3630168"/>
            <a:ext cx="502920" cy="502920"/>
          </a:xfrm>
          <a:prstGeom prst="rect">
            <a:avLst/>
          </a:prstGeom>
          <a:noFill/>
          <a:ln/>
        </p:spPr>
        <p:txBody>
          <a:bodyPr wrap="square" lIns="0" tIns="0" rIns="0" bIns="0" rtlCol="0" anchor="ctr"/>
          <a:lstStyle/>
          <a:p>
            <a:pPr algn="ctr" indent="0" marL="0">
              <a:buNone/>
            </a:pPr>
            <a:r>
              <a:rPr lang="en-US" sz="2000" b="1" dirty="0">
                <a:solidFill>
                  <a:srgbClr val="5E5CE6"/>
                </a:solidFill>
                <a:latin typeface="Calibri" pitchFamily="34" charset="0"/>
                <a:ea typeface="Calibri" pitchFamily="34" charset="-122"/>
                <a:cs typeface="Calibri" pitchFamily="34" charset="-120"/>
              </a:rPr>
              <a:t>!</a:t>
            </a:r>
            <a:endParaRPr lang="en-US" sz="2000" dirty="0"/>
          </a:p>
        </p:txBody>
      </p:sp>
      <p:sp>
        <p:nvSpPr>
          <p:cNvPr id="17" name="Text 15"/>
          <p:cNvSpPr txBox="1"/>
          <p:nvPr/>
        </p:nvSpPr>
        <p:spPr>
          <a:xfrm>
            <a:off x="1508760" y="3584448"/>
            <a:ext cx="4069080" cy="320040"/>
          </a:xfrm>
          <a:prstGeom prst="rect">
            <a:avLst/>
          </a:prstGeom>
          <a:noFill/>
          <a:ln/>
        </p:spPr>
        <p:txBody>
          <a:bodyPr wrap="square" lIns="0" tIns="0" rIns="0" bIns="0" rtlCol="0" anchor="ctr"/>
          <a:lstStyle/>
          <a:p>
            <a:pPr indent="0" marL="0">
              <a:buNone/>
            </a:pPr>
            <a:r>
              <a:rPr lang="en-US" sz="1450" b="1" dirty="0">
                <a:solidFill>
                  <a:srgbClr val="F5F5F7"/>
                </a:solidFill>
                <a:latin typeface="Calibri" pitchFamily="34" charset="0"/>
                <a:ea typeface="Calibri" pitchFamily="34" charset="-122"/>
                <a:cs typeface="Calibri" pitchFamily="34" charset="-120"/>
              </a:rPr>
              <a:t>Specific tools still matter</a:t>
            </a:r>
            <a:endParaRPr lang="en-US" sz="1450" dirty="0"/>
          </a:p>
        </p:txBody>
      </p:sp>
      <p:sp>
        <p:nvSpPr>
          <p:cNvPr id="18" name="Text 16"/>
          <p:cNvSpPr txBox="1"/>
          <p:nvPr/>
        </p:nvSpPr>
        <p:spPr>
          <a:xfrm>
            <a:off x="1508760" y="3895344"/>
            <a:ext cx="4023360" cy="438912"/>
          </a:xfrm>
          <a:prstGeom prst="rect">
            <a:avLst/>
          </a:prstGeom>
          <a:noFill/>
          <a:ln/>
        </p:spPr>
        <p:txBody>
          <a:bodyPr wrap="square" lIns="0" tIns="0" rIns="0" bIns="0" rtlCol="0" anchor="ctr"/>
          <a:lstStyle/>
          <a:p>
            <a:pPr indent="0" marL="0">
              <a:buNone/>
            </a:pPr>
            <a:r>
              <a:rPr lang="en-US" sz="1100" dirty="0">
                <a:solidFill>
                  <a:srgbClr val="9A9AA2"/>
                </a:solidFill>
                <a:latin typeface="Calibri" pitchFamily="34" charset="0"/>
                <a:ea typeface="Calibri" pitchFamily="34" charset="-122"/>
                <a:cs typeface="Calibri" pitchFamily="34" charset="-120"/>
              </a:rPr>
              <a:t>A JD that names a required tool shouldn't be satisfied by “close enough.”</a:t>
            </a:r>
            <a:endParaRPr lang="en-US" sz="1100" dirty="0"/>
          </a:p>
        </p:txBody>
      </p:sp>
      <p:sp>
        <p:nvSpPr>
          <p:cNvPr id="19" name="Shape 17"/>
          <p:cNvSpPr/>
          <p:nvPr/>
        </p:nvSpPr>
        <p:spPr>
          <a:xfrm>
            <a:off x="6172200" y="3474720"/>
            <a:ext cx="5074920" cy="914400"/>
          </a:xfrm>
          <a:prstGeom prst="roundRect">
            <a:avLst>
              <a:gd name="adj" fmla="val 12000"/>
            </a:avLst>
          </a:prstGeom>
          <a:solidFill>
            <a:srgbClr val="17171B"/>
          </a:solidFill>
          <a:ln/>
          <a:effectLst>
            <a:outerShdw sx="100000" sy="100000" kx="0" ky="0" algn="bl" rotWithShape="0" blurRad="101600" dist="38100" dir="5400000">
              <a:srgbClr val="000000">
                <a:alpha val="35000"/>
              </a:srgbClr>
            </a:outerShdw>
          </a:effectLst>
        </p:spPr>
      </p:sp>
      <p:sp>
        <p:nvSpPr>
          <p:cNvPr id="20" name="Shape 18"/>
          <p:cNvSpPr/>
          <p:nvPr/>
        </p:nvSpPr>
        <p:spPr>
          <a:xfrm>
            <a:off x="6373368" y="3648456"/>
            <a:ext cx="502920" cy="502920"/>
          </a:xfrm>
          <a:prstGeom prst="ellipse">
            <a:avLst/>
          </a:prstGeom>
          <a:solidFill>
            <a:srgbClr val="3A3A8C"/>
          </a:solidFill>
          <a:ln/>
        </p:spPr>
      </p:sp>
      <p:sp>
        <p:nvSpPr>
          <p:cNvPr id="21" name="Text 19"/>
          <p:cNvSpPr txBox="1"/>
          <p:nvPr/>
        </p:nvSpPr>
        <p:spPr>
          <a:xfrm>
            <a:off x="6373368" y="3630168"/>
            <a:ext cx="502920" cy="502920"/>
          </a:xfrm>
          <a:prstGeom prst="rect">
            <a:avLst/>
          </a:prstGeom>
          <a:noFill/>
          <a:ln/>
        </p:spPr>
        <p:txBody>
          <a:bodyPr wrap="square" lIns="0" tIns="0" rIns="0" bIns="0" rtlCol="0" anchor="ctr"/>
          <a:lstStyle/>
          <a:p>
            <a:pPr algn="ctr" indent="0" marL="0">
              <a:buNone/>
            </a:pPr>
            <a:r>
              <a:rPr lang="en-US" sz="2000" b="1" dirty="0">
                <a:solidFill>
                  <a:srgbClr val="5E5CE6"/>
                </a:solidFill>
                <a:latin typeface="Calibri" pitchFamily="34" charset="0"/>
                <a:ea typeface="Calibri" pitchFamily="34" charset="-122"/>
                <a:cs typeface="Calibri" pitchFamily="34" charset="-120"/>
              </a:rPr>
              <a:t>!</a:t>
            </a:r>
            <a:endParaRPr lang="en-US" sz="2000" dirty="0"/>
          </a:p>
        </p:txBody>
      </p:sp>
      <p:sp>
        <p:nvSpPr>
          <p:cNvPr id="22" name="Text 20"/>
          <p:cNvSpPr txBox="1"/>
          <p:nvPr/>
        </p:nvSpPr>
        <p:spPr>
          <a:xfrm>
            <a:off x="7040880" y="3584448"/>
            <a:ext cx="4069080" cy="320040"/>
          </a:xfrm>
          <a:prstGeom prst="rect">
            <a:avLst/>
          </a:prstGeom>
          <a:noFill/>
          <a:ln/>
        </p:spPr>
        <p:txBody>
          <a:bodyPr wrap="square" lIns="0" tIns="0" rIns="0" bIns="0" rtlCol="0" anchor="ctr"/>
          <a:lstStyle/>
          <a:p>
            <a:pPr indent="0" marL="0">
              <a:buNone/>
            </a:pPr>
            <a:r>
              <a:rPr lang="en-US" sz="1450" b="1" dirty="0">
                <a:solidFill>
                  <a:srgbClr val="F5F5F7"/>
                </a:solidFill>
                <a:latin typeface="Calibri" pitchFamily="34" charset="0"/>
                <a:ea typeface="Calibri" pitchFamily="34" charset="-122"/>
                <a:cs typeface="Calibri" pitchFamily="34" charset="-120"/>
              </a:rPr>
              <a:t>Results must be explainable</a:t>
            </a:r>
            <a:endParaRPr lang="en-US" sz="1450" dirty="0"/>
          </a:p>
        </p:txBody>
      </p:sp>
      <p:sp>
        <p:nvSpPr>
          <p:cNvPr id="23" name="Text 21"/>
          <p:cNvSpPr txBox="1"/>
          <p:nvPr/>
        </p:nvSpPr>
        <p:spPr>
          <a:xfrm>
            <a:off x="7040880" y="3895344"/>
            <a:ext cx="4023360" cy="438912"/>
          </a:xfrm>
          <a:prstGeom prst="rect">
            <a:avLst/>
          </a:prstGeom>
          <a:noFill/>
          <a:ln/>
        </p:spPr>
        <p:txBody>
          <a:bodyPr wrap="square" lIns="0" tIns="0" rIns="0" bIns="0" rtlCol="0" anchor="ctr"/>
          <a:lstStyle/>
          <a:p>
            <a:pPr indent="0" marL="0">
              <a:buNone/>
            </a:pPr>
            <a:r>
              <a:rPr lang="en-US" sz="1100" dirty="0">
                <a:solidFill>
                  <a:srgbClr val="9A9AA2"/>
                </a:solidFill>
                <a:latin typeface="Calibri" pitchFamily="34" charset="0"/>
                <a:ea typeface="Calibri" pitchFamily="34" charset="-122"/>
                <a:cs typeface="Calibri" pitchFamily="34" charset="-120"/>
              </a:rPr>
              <a:t>A bare score with no reasoning isn't something a recruiter can trust or defend.</a:t>
            </a:r>
            <a:endParaRPr lang="en-US" sz="1100" dirty="0"/>
          </a:p>
        </p:txBody>
      </p:sp>
      <p:sp>
        <p:nvSpPr>
          <p:cNvPr id="24" name="Shape 22"/>
          <p:cNvSpPr/>
          <p:nvPr/>
        </p:nvSpPr>
        <p:spPr>
          <a:xfrm>
            <a:off x="640080" y="4709160"/>
            <a:ext cx="10881360" cy="1005840"/>
          </a:xfrm>
          <a:prstGeom prst="roundRect">
            <a:avLst>
              <a:gd name="adj" fmla="val 10909"/>
            </a:avLst>
          </a:prstGeom>
          <a:solidFill>
            <a:srgbClr val="2A1414"/>
          </a:solidFill>
          <a:ln/>
          <a:effectLst>
            <a:outerShdw sx="100000" sy="100000" kx="0" ky="0" algn="bl" rotWithShape="0" blurRad="101600" dist="38100" dir="5400000">
              <a:srgbClr val="000000">
                <a:alpha val="35000"/>
              </a:srgbClr>
            </a:outerShdw>
          </a:effectLst>
        </p:spPr>
      </p:sp>
      <p:sp>
        <p:nvSpPr>
          <p:cNvPr id="25" name="Text 23"/>
          <p:cNvSpPr txBox="1"/>
          <p:nvPr/>
        </p:nvSpPr>
        <p:spPr>
          <a:xfrm>
            <a:off x="960120" y="4709160"/>
            <a:ext cx="10241280" cy="1005840"/>
          </a:xfrm>
          <a:prstGeom prst="rect">
            <a:avLst/>
          </a:prstGeom>
          <a:noFill/>
          <a:ln/>
        </p:spPr>
        <p:txBody>
          <a:bodyPr wrap="square" lIns="0" tIns="0" rIns="0" bIns="0" rtlCol="0" anchor="ctr"/>
          <a:lstStyle/>
          <a:p>
            <a:pPr algn="l" indent="0" marL="0">
              <a:buNone/>
            </a:pPr>
            <a:r>
              <a:rPr lang="en-US" sz="1700" b="1" i="1" dirty="0">
                <a:solidFill>
                  <a:srgbClr val="FF6B5E"/>
                </a:solidFill>
                <a:latin typeface="Calibri" pitchFamily="34" charset="0"/>
                <a:ea typeface="Calibri" pitchFamily="34" charset="-122"/>
                <a:cs typeface="Calibri" pitchFamily="34" charset="-120"/>
              </a:rPr>
              <a:t>“Simply pasting a resume and JD into an LLM and asking for a score” does not meet the requirement.</a:t>
            </a:r>
            <a:endParaRPr lang="en-US" sz="1700" dirty="0"/>
          </a:p>
        </p:txBody>
      </p:sp>
      <p:sp>
        <p:nvSpPr>
          <p:cNvPr id="26" name="Text 24"/>
          <p:cNvSpPr txBox="1"/>
          <p:nvPr/>
        </p:nvSpPr>
        <p:spPr>
          <a:xfrm>
            <a:off x="457200" y="6473952"/>
            <a:ext cx="7315200" cy="274320"/>
          </a:xfrm>
          <a:prstGeom prst="rect">
            <a:avLst/>
          </a:prstGeom>
          <a:noFill/>
          <a:ln/>
        </p:spPr>
        <p:txBody>
          <a:bodyPr wrap="square" lIns="0" tIns="0" rIns="0" bIns="0" rtlCol="0" anchor="ctr"/>
          <a:lstStyle/>
          <a:p>
            <a:pPr indent="0" marL="0">
              <a:buNone/>
            </a:pPr>
            <a:r>
              <a:rPr lang="en-US" sz="900" dirty="0">
                <a:solidFill>
                  <a:srgbClr val="9A9AA2"/>
                </a:solidFill>
                <a:latin typeface="Calibri" pitchFamily="34" charset="0"/>
                <a:ea typeface="Calibri" pitchFamily="34" charset="-122"/>
                <a:cs typeface="Calibri" pitchFamily="34" charset="-120"/>
              </a:rPr>
              <a:t>Resumeeit — Smart Shortlisting Engine</a:t>
            </a:r>
            <a:endParaRPr lang="en-US" sz="900" dirty="0"/>
          </a:p>
        </p:txBody>
      </p:sp>
      <p:sp>
        <p:nvSpPr>
          <p:cNvPr id="27" name="Text 25"/>
          <p:cNvSpPr txBox="1"/>
          <p:nvPr/>
        </p:nvSpPr>
        <p:spPr>
          <a:xfrm>
            <a:off x="11000232" y="6473952"/>
            <a:ext cx="731520" cy="274320"/>
          </a:xfrm>
          <a:prstGeom prst="rect">
            <a:avLst/>
          </a:prstGeom>
          <a:noFill/>
          <a:ln/>
        </p:spPr>
        <p:txBody>
          <a:bodyPr wrap="square" lIns="0" tIns="0" rIns="0" bIns="0" rtlCol="0" anchor="ctr"/>
          <a:lstStyle/>
          <a:p>
            <a:pPr algn="r" indent="0" marL="0">
              <a:buNone/>
            </a:pPr>
            <a:r>
              <a:rPr lang="en-US" sz="900" dirty="0">
                <a:solidFill>
                  <a:srgbClr val="9A9AA2"/>
                </a:solidFill>
                <a:latin typeface="Calibri" pitchFamily="34" charset="0"/>
                <a:ea typeface="Calibri" pitchFamily="34" charset="-122"/>
                <a:cs typeface="Calibri" pitchFamily="34" charset="-120"/>
              </a:rPr>
              <a:t>02 / 10</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0A0A"/>
        </a:solidFill>
      </p:bgPr>
    </p:bg>
    <p:spTree>
      <p:nvGrpSpPr>
        <p:cNvPr id="1" name=""/>
        <p:cNvGrpSpPr/>
        <p:nvPr/>
      </p:nvGrpSpPr>
      <p:grpSpPr>
        <a:xfrm>
          <a:off x="0" y="0"/>
          <a:ext cx="0" cy="0"/>
          <a:chOff x="0" y="0"/>
          <a:chExt cx="0" cy="0"/>
        </a:xfrm>
      </p:grpSpPr>
      <p:sp>
        <p:nvSpPr>
          <p:cNvPr id="2" name="Text 0"/>
          <p:cNvSpPr txBox="1"/>
          <p:nvPr/>
        </p:nvSpPr>
        <p:spPr>
          <a:xfrm>
            <a:off x="640080" y="502920"/>
            <a:ext cx="7315200" cy="320040"/>
          </a:xfrm>
          <a:prstGeom prst="rect">
            <a:avLst/>
          </a:prstGeom>
          <a:noFill/>
          <a:ln/>
        </p:spPr>
        <p:txBody>
          <a:bodyPr wrap="square" lIns="0" tIns="0" rIns="0" bIns="0" rtlCol="0" anchor="ctr"/>
          <a:lstStyle/>
          <a:p>
            <a:pPr indent="0" marL="0">
              <a:buNone/>
            </a:pPr>
            <a:r>
              <a:rPr lang="en-US" sz="1200" b="1" spc="200" kern="0" dirty="0">
                <a:solidFill>
                  <a:srgbClr val="5E5CE6"/>
                </a:solidFill>
                <a:latin typeface="Calibri" pitchFamily="34" charset="0"/>
                <a:ea typeface="Calibri" pitchFamily="34" charset="-122"/>
                <a:cs typeface="Calibri" pitchFamily="34" charset="-120"/>
              </a:rPr>
              <a:t>OUR APPROACH</a:t>
            </a:r>
            <a:endParaRPr lang="en-US" sz="1200" dirty="0"/>
          </a:p>
        </p:txBody>
      </p:sp>
      <p:sp>
        <p:nvSpPr>
          <p:cNvPr id="3" name="Text 1"/>
          <p:cNvSpPr txBox="1"/>
          <p:nvPr/>
        </p:nvSpPr>
        <p:spPr>
          <a:xfrm>
            <a:off x="640080" y="822960"/>
            <a:ext cx="10789920" cy="914400"/>
          </a:xfrm>
          <a:prstGeom prst="rect">
            <a:avLst/>
          </a:prstGeom>
          <a:noFill/>
          <a:ln/>
        </p:spPr>
        <p:txBody>
          <a:bodyPr wrap="square" lIns="0" tIns="0" rIns="0" bIns="0" rtlCol="0" anchor="ctr"/>
          <a:lstStyle/>
          <a:p>
            <a:pPr indent="0" marL="0">
              <a:buNone/>
            </a:pPr>
            <a:r>
              <a:rPr lang="en-US" sz="3200" b="1" dirty="0">
                <a:solidFill>
                  <a:srgbClr val="F5F5F7"/>
                </a:solidFill>
                <a:latin typeface="Calibri" pitchFamily="34" charset="0"/>
                <a:ea typeface="Calibri" pitchFamily="34" charset="-122"/>
                <a:cs typeface="Calibri" pitchFamily="34" charset="-120"/>
              </a:rPr>
              <a:t>Hybrid matching: keyword + semantic</a:t>
            </a:r>
            <a:endParaRPr lang="en-US" sz="3200" dirty="0"/>
          </a:p>
        </p:txBody>
      </p:sp>
      <p:sp>
        <p:nvSpPr>
          <p:cNvPr id="4" name="Shape 2"/>
          <p:cNvSpPr/>
          <p:nvPr/>
        </p:nvSpPr>
        <p:spPr>
          <a:xfrm>
            <a:off x="640080" y="2148840"/>
            <a:ext cx="5212080" cy="2971800"/>
          </a:xfrm>
          <a:prstGeom prst="roundRect">
            <a:avLst>
              <a:gd name="adj" fmla="val 3692"/>
            </a:avLst>
          </a:prstGeom>
          <a:solidFill>
            <a:srgbClr val="17171B"/>
          </a:solidFill>
          <a:ln/>
          <a:effectLst>
            <a:outerShdw sx="100000" sy="100000" kx="0" ky="0" algn="bl" rotWithShape="0" blurRad="101600" dist="38100" dir="5400000">
              <a:srgbClr val="000000">
                <a:alpha val="35000"/>
              </a:srgbClr>
            </a:outerShdw>
          </a:effectLst>
        </p:spPr>
      </p:sp>
      <p:sp>
        <p:nvSpPr>
          <p:cNvPr id="5" name="Shape 3"/>
          <p:cNvSpPr/>
          <p:nvPr/>
        </p:nvSpPr>
        <p:spPr>
          <a:xfrm>
            <a:off x="914400" y="2468880"/>
            <a:ext cx="566928" cy="566928"/>
          </a:xfrm>
          <a:prstGeom prst="ellipse">
            <a:avLst/>
          </a:prstGeom>
          <a:solidFill>
            <a:srgbClr val="3A3A8C"/>
          </a:solidFill>
          <a:ln/>
        </p:spPr>
      </p:sp>
      <p:sp>
        <p:nvSpPr>
          <p:cNvPr id="6" name="Text 4"/>
          <p:cNvSpPr txBox="1"/>
          <p:nvPr/>
        </p:nvSpPr>
        <p:spPr>
          <a:xfrm>
            <a:off x="914400" y="2450592"/>
            <a:ext cx="566928" cy="566928"/>
          </a:xfrm>
          <a:prstGeom prst="rect">
            <a:avLst/>
          </a:prstGeom>
          <a:noFill/>
          <a:ln/>
        </p:spPr>
        <p:txBody>
          <a:bodyPr wrap="square" lIns="0" tIns="0" rIns="0" bIns="0" rtlCol="0" anchor="ctr"/>
          <a:lstStyle/>
          <a:p>
            <a:pPr algn="ctr" indent="0" marL="0">
              <a:buNone/>
            </a:pPr>
            <a:r>
              <a:rPr lang="en-US" sz="2400" b="1" dirty="0">
                <a:solidFill>
                  <a:srgbClr val="5E5CE6"/>
                </a:solidFill>
                <a:latin typeface="Calibri" pitchFamily="34" charset="0"/>
                <a:ea typeface="Calibri" pitchFamily="34" charset="-122"/>
                <a:cs typeface="Calibri" pitchFamily="34" charset="-120"/>
              </a:rPr>
              <a:t>#</a:t>
            </a:r>
            <a:endParaRPr lang="en-US" sz="2400" dirty="0"/>
          </a:p>
        </p:txBody>
      </p:sp>
      <p:sp>
        <p:nvSpPr>
          <p:cNvPr id="7" name="Text 5"/>
          <p:cNvSpPr txBox="1"/>
          <p:nvPr/>
        </p:nvSpPr>
        <p:spPr>
          <a:xfrm>
            <a:off x="1645920" y="2514600"/>
            <a:ext cx="3931920" cy="457200"/>
          </a:xfrm>
          <a:prstGeom prst="rect">
            <a:avLst/>
          </a:prstGeom>
          <a:noFill/>
          <a:ln/>
        </p:spPr>
        <p:txBody>
          <a:bodyPr wrap="square" lIns="0" tIns="0" rIns="0" bIns="0" rtlCol="0" anchor="ctr"/>
          <a:lstStyle/>
          <a:p>
            <a:pPr indent="0" marL="0">
              <a:buNone/>
            </a:pPr>
            <a:r>
              <a:rPr lang="en-US" sz="1900" b="1" dirty="0">
                <a:solidFill>
                  <a:srgbClr val="F5F5F7"/>
                </a:solidFill>
                <a:latin typeface="Calibri" pitchFamily="34" charset="0"/>
                <a:ea typeface="Calibri" pitchFamily="34" charset="-122"/>
                <a:cs typeface="Calibri" pitchFamily="34" charset="-120"/>
              </a:rPr>
              <a:t>Keyword layer</a:t>
            </a:r>
            <a:endParaRPr lang="en-US" sz="1900" dirty="0"/>
          </a:p>
        </p:txBody>
      </p:sp>
      <p:sp>
        <p:nvSpPr>
          <p:cNvPr id="8" name="Text 6"/>
          <p:cNvSpPr txBox="1"/>
          <p:nvPr/>
        </p:nvSpPr>
        <p:spPr>
          <a:xfrm>
            <a:off x="914400" y="3200400"/>
            <a:ext cx="4663440" cy="1554480"/>
          </a:xfrm>
          <a:prstGeom prst="rect">
            <a:avLst/>
          </a:prstGeom>
          <a:noFill/>
          <a:ln/>
        </p:spPr>
        <p:txBody>
          <a:bodyPr wrap="square" lIns="0" tIns="0" rIns="0" bIns="0" rtlCol="0" anchor="t"/>
          <a:lstStyle/>
          <a:p>
            <a:pPr marL="342900" indent="-342900">
              <a:spcAft>
                <a:spcPts val="800"/>
              </a:spcAft>
              <a:buSzPct val="100000"/>
              <a:buChar char="•"/>
            </a:pPr>
            <a:r>
              <a:rPr lang="en-US" sz="1150" dirty="0">
                <a:solidFill>
                  <a:srgbClr val="9A9AA2"/>
                </a:solidFill>
                <a:latin typeface="Calibri" pitchFamily="34" charset="0"/>
                <a:ea typeface="Calibri" pitchFamily="34" charset="-122"/>
                <a:cs typeface="Calibri" pitchFamily="34" charset="-120"/>
              </a:rPr>
              <a:t>~50-term skill vocabulary matched via regex against the JD and every resume</a:t>
            </a:r>
            <a:endParaRPr lang="en-US" sz="1150" dirty="0"/>
          </a:p>
          <a:p>
            <a:pPr marL="342900" indent="-342900">
              <a:spcAft>
                <a:spcPts val="800"/>
              </a:spcAft>
              <a:buSzPct val="100000"/>
              <a:buChar char="•"/>
            </a:pPr>
            <a:r>
              <a:rPr lang="en-US" sz="1150" dirty="0">
                <a:solidFill>
                  <a:srgbClr val="9A9AA2"/>
                </a:solidFill>
                <a:latin typeface="Calibri" pitchFamily="34" charset="0"/>
                <a:ea typeface="Calibri" pitchFamily="34" charset="-122"/>
                <a:cs typeface="Calibri" pitchFamily="34" charset="-120"/>
              </a:rPr>
              <a:t>Recruiter-added custom must-have / preferred keywords</a:t>
            </a:r>
            <a:endParaRPr lang="en-US" sz="1150" dirty="0"/>
          </a:p>
          <a:p>
            <a:pPr marL="342900" indent="-342900">
              <a:spcAft>
                <a:spcPts val="800"/>
              </a:spcAft>
              <a:buSzPct val="100000"/>
              <a:buChar char="•"/>
            </a:pPr>
            <a:r>
              <a:rPr lang="en-US" sz="1150" dirty="0">
                <a:solidFill>
                  <a:srgbClr val="9A9AA2"/>
                </a:solidFill>
                <a:latin typeface="Calibri" pitchFamily="34" charset="0"/>
                <a:ea typeface="Calibri" pitchFamily="34" charset="-122"/>
                <a:cs typeface="Calibri" pitchFamily="34" charset="-120"/>
              </a:rPr>
              <a:t>Per-skill weight multipliers — nothing is one-size-fits-all</a:t>
            </a:r>
            <a:endParaRPr lang="en-US" sz="1150" dirty="0"/>
          </a:p>
        </p:txBody>
      </p:sp>
      <p:sp>
        <p:nvSpPr>
          <p:cNvPr id="9" name="Shape 7"/>
          <p:cNvSpPr/>
          <p:nvPr/>
        </p:nvSpPr>
        <p:spPr>
          <a:xfrm>
            <a:off x="6309360" y="2148840"/>
            <a:ext cx="5212080" cy="2971800"/>
          </a:xfrm>
          <a:prstGeom prst="roundRect">
            <a:avLst>
              <a:gd name="adj" fmla="val 3692"/>
            </a:avLst>
          </a:prstGeom>
          <a:solidFill>
            <a:srgbClr val="17171B"/>
          </a:solidFill>
          <a:ln/>
          <a:effectLst>
            <a:outerShdw sx="100000" sy="100000" kx="0" ky="0" algn="bl" rotWithShape="0" blurRad="101600" dist="38100" dir="5400000">
              <a:srgbClr val="000000">
                <a:alpha val="35000"/>
              </a:srgbClr>
            </a:outerShdw>
          </a:effectLst>
        </p:spPr>
      </p:sp>
      <p:sp>
        <p:nvSpPr>
          <p:cNvPr id="10" name="Shape 8"/>
          <p:cNvSpPr/>
          <p:nvPr/>
        </p:nvSpPr>
        <p:spPr>
          <a:xfrm>
            <a:off x="6583680" y="2468880"/>
            <a:ext cx="566928" cy="566928"/>
          </a:xfrm>
          <a:prstGeom prst="ellipse">
            <a:avLst/>
          </a:prstGeom>
          <a:solidFill>
            <a:srgbClr val="5E5CE6"/>
          </a:solidFill>
          <a:ln/>
        </p:spPr>
      </p:sp>
      <p:sp>
        <p:nvSpPr>
          <p:cNvPr id="11" name="Text 9"/>
          <p:cNvSpPr txBox="1"/>
          <p:nvPr/>
        </p:nvSpPr>
        <p:spPr>
          <a:xfrm>
            <a:off x="6583680" y="2450592"/>
            <a:ext cx="566928" cy="566928"/>
          </a:xfrm>
          <a:prstGeom prst="rect">
            <a:avLst/>
          </a:prstGeom>
          <a:noFill/>
          <a:ln/>
        </p:spPr>
        <p:txBody>
          <a:bodyPr wrap="square" lIns="0" tIns="0" rIns="0" bIns="0" rtlCol="0" anchor="ctr"/>
          <a:lstStyle/>
          <a:p>
            <a:pPr algn="ctr" indent="0" marL="0">
              <a:buNone/>
            </a:pPr>
            <a:r>
              <a:rPr lang="en-US" sz="2200" b="1" dirty="0">
                <a:solidFill>
                  <a:srgbClr val="F5F5F7"/>
                </a:solidFill>
                <a:latin typeface="Calibri" pitchFamily="34" charset="0"/>
                <a:ea typeface="Calibri" pitchFamily="34" charset="-122"/>
                <a:cs typeface="Calibri" pitchFamily="34" charset="-120"/>
              </a:rPr>
              <a:t>⚡</a:t>
            </a:r>
            <a:endParaRPr lang="en-US" sz="2200" dirty="0"/>
          </a:p>
        </p:txBody>
      </p:sp>
      <p:sp>
        <p:nvSpPr>
          <p:cNvPr id="12" name="Text 10"/>
          <p:cNvSpPr txBox="1"/>
          <p:nvPr/>
        </p:nvSpPr>
        <p:spPr>
          <a:xfrm>
            <a:off x="7315200" y="2514600"/>
            <a:ext cx="3931920" cy="457200"/>
          </a:xfrm>
          <a:prstGeom prst="rect">
            <a:avLst/>
          </a:prstGeom>
          <a:noFill/>
          <a:ln/>
        </p:spPr>
        <p:txBody>
          <a:bodyPr wrap="square" lIns="0" tIns="0" rIns="0" bIns="0" rtlCol="0" anchor="ctr"/>
          <a:lstStyle/>
          <a:p>
            <a:pPr indent="0" marL="0">
              <a:buNone/>
            </a:pPr>
            <a:r>
              <a:rPr lang="en-US" sz="1900" b="1" dirty="0">
                <a:solidFill>
                  <a:srgbClr val="F5F5F7"/>
                </a:solidFill>
                <a:latin typeface="Calibri" pitchFamily="34" charset="0"/>
                <a:ea typeface="Calibri" pitchFamily="34" charset="-122"/>
                <a:cs typeface="Calibri" pitchFamily="34" charset="-120"/>
              </a:rPr>
              <a:t>Semantic layer</a:t>
            </a:r>
            <a:endParaRPr lang="en-US" sz="1900" dirty="0"/>
          </a:p>
        </p:txBody>
      </p:sp>
      <p:sp>
        <p:nvSpPr>
          <p:cNvPr id="13" name="Text 11"/>
          <p:cNvSpPr txBox="1"/>
          <p:nvPr/>
        </p:nvSpPr>
        <p:spPr>
          <a:xfrm>
            <a:off x="6583680" y="3200400"/>
            <a:ext cx="4663440" cy="1554480"/>
          </a:xfrm>
          <a:prstGeom prst="rect">
            <a:avLst/>
          </a:prstGeom>
          <a:noFill/>
          <a:ln/>
        </p:spPr>
        <p:txBody>
          <a:bodyPr wrap="square" lIns="0" tIns="0" rIns="0" bIns="0" rtlCol="0" anchor="t"/>
          <a:lstStyle/>
          <a:p>
            <a:pPr marL="342900" indent="-342900">
              <a:spcAft>
                <a:spcPts val="800"/>
              </a:spcAft>
              <a:buSzPct val="100000"/>
              <a:buChar char="•"/>
            </a:pPr>
            <a:r>
              <a:rPr lang="en-US" sz="1150" dirty="0">
                <a:solidFill>
                  <a:srgbClr val="9A9AA2"/>
                </a:solidFill>
                <a:latin typeface="Calibri" pitchFamily="34" charset="0"/>
                <a:ea typeface="Calibri" pitchFamily="34" charset="-122"/>
                <a:cs typeface="Calibri" pitchFamily="34" charset="-120"/>
              </a:rPr>
              <a:t>Sentence-embedding similarity for whole-document meaning, not literal words</a:t>
            </a:r>
            <a:endParaRPr lang="en-US" sz="1150" dirty="0"/>
          </a:p>
          <a:p>
            <a:pPr marL="342900" indent="-342900">
              <a:spcAft>
                <a:spcPts val="800"/>
              </a:spcAft>
              <a:buSzPct val="100000"/>
              <a:buChar char="•"/>
            </a:pPr>
            <a:r>
              <a:rPr lang="en-US" sz="1150" dirty="0">
                <a:solidFill>
                  <a:srgbClr val="9A9AA2"/>
                </a:solidFill>
                <a:latin typeface="Calibri" pitchFamily="34" charset="0"/>
                <a:ea typeface="Calibri" pitchFamily="34" charset="-122"/>
                <a:cs typeface="Calibri" pitchFamily="34" charset="-120"/>
              </a:rPr>
              <a:t>Infers missing skills from context — not just surface matching</a:t>
            </a:r>
            <a:endParaRPr lang="en-US" sz="1150" dirty="0"/>
          </a:p>
          <a:p>
            <a:pPr marL="342900" indent="-342900">
              <a:spcAft>
                <a:spcPts val="800"/>
              </a:spcAft>
              <a:buSzPct val="100000"/>
              <a:buChar char="•"/>
            </a:pPr>
            <a:r>
              <a:rPr lang="en-US" sz="1150" dirty="0">
                <a:solidFill>
                  <a:srgbClr val="9A9AA2"/>
                </a:solidFill>
                <a:latin typeface="Calibri" pitchFamily="34" charset="0"/>
                <a:ea typeface="Calibri" pitchFamily="34" charset="-122"/>
                <a:cs typeface="Calibri" pitchFamily="34" charset="-120"/>
              </a:rPr>
              <a:t>Every inferred match is tagged separately from an explicit one</a:t>
            </a:r>
            <a:endParaRPr lang="en-US" sz="1150" dirty="0"/>
          </a:p>
        </p:txBody>
      </p:sp>
      <p:sp>
        <p:nvSpPr>
          <p:cNvPr id="14" name="Shape 12"/>
          <p:cNvSpPr/>
          <p:nvPr/>
        </p:nvSpPr>
        <p:spPr>
          <a:xfrm>
            <a:off x="640080" y="5166360"/>
            <a:ext cx="10881360" cy="1234440"/>
          </a:xfrm>
          <a:prstGeom prst="roundRect">
            <a:avLst>
              <a:gd name="adj" fmla="val 8889"/>
            </a:avLst>
          </a:prstGeom>
          <a:solidFill>
            <a:srgbClr val="1F1F24"/>
          </a:solidFill>
          <a:ln/>
          <a:effectLst>
            <a:outerShdw sx="100000" sy="100000" kx="0" ky="0" algn="bl" rotWithShape="0" blurRad="101600" dist="38100" dir="5400000">
              <a:srgbClr val="000000">
                <a:alpha val="35000"/>
              </a:srgbClr>
            </a:outerShdw>
          </a:effectLst>
        </p:spPr>
      </p:sp>
      <p:sp>
        <p:nvSpPr>
          <p:cNvPr id="15" name="Text 13"/>
          <p:cNvSpPr txBox="1"/>
          <p:nvPr/>
        </p:nvSpPr>
        <p:spPr>
          <a:xfrm>
            <a:off x="960120" y="5166360"/>
            <a:ext cx="10241280" cy="1234440"/>
          </a:xfrm>
          <a:prstGeom prst="rect">
            <a:avLst/>
          </a:prstGeom>
          <a:noFill/>
          <a:ln/>
        </p:spPr>
        <p:txBody>
          <a:bodyPr wrap="square" lIns="0" tIns="0" rIns="0" bIns="0" rtlCol="0" anchor="ctr"/>
          <a:lstStyle/>
          <a:p>
            <a:pPr indent="0" marL="0">
              <a:lnSpc>
                <a:spcPts val="2200"/>
              </a:lnSpc>
              <a:buNone/>
            </a:pPr>
            <a:r>
              <a:rPr lang="en-US" sz="1450" b="1" dirty="0">
                <a:solidFill>
                  <a:srgbClr val="5E5CE6"/>
                </a:solidFill>
                <a:latin typeface="Calibri" pitchFamily="34" charset="0"/>
                <a:ea typeface="Calibri" pitchFamily="34" charset="-122"/>
                <a:cs typeface="Calibri" pitchFamily="34" charset="-120"/>
              </a:rPr>
              <a:t>The “aha” moment:  </a:t>
            </a:r>
            <a:pPr indent="0" marL="0">
              <a:lnSpc>
                <a:spcPts val="2200"/>
              </a:lnSpc>
              <a:buNone/>
            </a:pPr>
            <a:r>
              <a:rPr lang="en-US" sz="1450" dirty="0">
                <a:solidFill>
                  <a:srgbClr val="F5F5F7"/>
                </a:solidFill>
                <a:latin typeface="Calibri" pitchFamily="34" charset="0"/>
                <a:ea typeface="Calibri" pitchFamily="34" charset="-122"/>
                <a:cs typeface="Calibri" pitchFamily="34" charset="-120"/>
              </a:rPr>
              <a:t>a resume says </a:t>
            </a:r>
            <a:pPr indent="0" marL="0">
              <a:lnSpc>
                <a:spcPts val="2200"/>
              </a:lnSpc>
              <a:buNone/>
            </a:pPr>
            <a:r>
              <a:rPr lang="en-US" sz="1450" b="1" dirty="0">
                <a:solidFill>
                  <a:srgbClr val="30D158"/>
                </a:solidFill>
                <a:latin typeface="Calibri" pitchFamily="34" charset="0"/>
                <a:ea typeface="Calibri" pitchFamily="34" charset="-122"/>
                <a:cs typeface="Calibri" pitchFamily="34" charset="-120"/>
              </a:rPr>
              <a:t>“built REST APIs with Node.js and MongoDB”</a:t>
            </a:r>
            <a:pPr indent="0" marL="0">
              <a:lnSpc>
                <a:spcPts val="2200"/>
              </a:lnSpc>
              <a:buNone/>
            </a:pPr>
            <a:r>
              <a:rPr lang="en-US" sz="1450" dirty="0">
                <a:solidFill>
                  <a:srgbClr val="F5F5F7"/>
                </a:solidFill>
                <a:latin typeface="Calibri" pitchFamily="34" charset="0"/>
                <a:ea typeface="Calibri" pitchFamily="34" charset="-122"/>
                <a:cs typeface="Calibri" pitchFamily="34" charset="-120"/>
              </a:rPr>
              <a:t> — the engine infers </a:t>
            </a:r>
            <a:pPr indent="0" marL="0">
              <a:lnSpc>
                <a:spcPts val="2200"/>
              </a:lnSpc>
              <a:buNone/>
            </a:pPr>
            <a:r>
              <a:rPr lang="en-US" sz="1450" b="1" dirty="0">
                <a:solidFill>
                  <a:srgbClr val="FFB454"/>
                </a:solidFill>
                <a:latin typeface="Calibri" pitchFamily="34" charset="0"/>
                <a:ea typeface="Calibri" pitchFamily="34" charset="-122"/>
                <a:cs typeface="Calibri" pitchFamily="34" charset="-120"/>
              </a:rPr>
              <a:t>Express</a:t>
            </a:r>
            <a:pPr indent="0" marL="0">
              <a:lnSpc>
                <a:spcPts val="2200"/>
              </a:lnSpc>
              <a:buNone/>
            </a:pPr>
            <a:r>
              <a:rPr lang="en-US" sz="1450" dirty="0">
                <a:solidFill>
                  <a:srgbClr val="F5F5F7"/>
                </a:solidFill>
                <a:latin typeface="Calibri" pitchFamily="34" charset="0"/>
                <a:ea typeface="Calibri" pitchFamily="34" charset="-122"/>
                <a:cs typeface="Calibri" pitchFamily="34" charset="-120"/>
              </a:rPr>
              <a:t> as a likely skill even though the word never appears.</a:t>
            </a:r>
            <a:endParaRPr lang="en-US" sz="1450" dirty="0"/>
          </a:p>
        </p:txBody>
      </p:sp>
      <p:sp>
        <p:nvSpPr>
          <p:cNvPr id="16" name="Text 14"/>
          <p:cNvSpPr txBox="1"/>
          <p:nvPr/>
        </p:nvSpPr>
        <p:spPr>
          <a:xfrm>
            <a:off x="457200" y="6473952"/>
            <a:ext cx="7315200" cy="274320"/>
          </a:xfrm>
          <a:prstGeom prst="rect">
            <a:avLst/>
          </a:prstGeom>
          <a:noFill/>
          <a:ln/>
        </p:spPr>
        <p:txBody>
          <a:bodyPr wrap="square" lIns="0" tIns="0" rIns="0" bIns="0" rtlCol="0" anchor="ctr"/>
          <a:lstStyle/>
          <a:p>
            <a:pPr indent="0" marL="0">
              <a:buNone/>
            </a:pPr>
            <a:r>
              <a:rPr lang="en-US" sz="900" dirty="0">
                <a:solidFill>
                  <a:srgbClr val="9A9AA2"/>
                </a:solidFill>
                <a:latin typeface="Calibri" pitchFamily="34" charset="0"/>
                <a:ea typeface="Calibri" pitchFamily="34" charset="-122"/>
                <a:cs typeface="Calibri" pitchFamily="34" charset="-120"/>
              </a:rPr>
              <a:t>Resumeeit — Smart Shortlisting Engine</a:t>
            </a:r>
            <a:endParaRPr lang="en-US" sz="900" dirty="0"/>
          </a:p>
        </p:txBody>
      </p:sp>
      <p:sp>
        <p:nvSpPr>
          <p:cNvPr id="17" name="Text 15"/>
          <p:cNvSpPr txBox="1"/>
          <p:nvPr/>
        </p:nvSpPr>
        <p:spPr>
          <a:xfrm>
            <a:off x="11000232" y="6473952"/>
            <a:ext cx="731520" cy="274320"/>
          </a:xfrm>
          <a:prstGeom prst="rect">
            <a:avLst/>
          </a:prstGeom>
          <a:noFill/>
          <a:ln/>
        </p:spPr>
        <p:txBody>
          <a:bodyPr wrap="square" lIns="0" tIns="0" rIns="0" bIns="0" rtlCol="0" anchor="ctr"/>
          <a:lstStyle/>
          <a:p>
            <a:pPr algn="r" indent="0" marL="0">
              <a:buNone/>
            </a:pPr>
            <a:r>
              <a:rPr lang="en-US" sz="900" dirty="0">
                <a:solidFill>
                  <a:srgbClr val="9A9AA2"/>
                </a:solidFill>
                <a:latin typeface="Calibri" pitchFamily="34" charset="0"/>
                <a:ea typeface="Calibri" pitchFamily="34" charset="-122"/>
                <a:cs typeface="Calibri" pitchFamily="34" charset="-120"/>
              </a:rPr>
              <a:t>03 / 10</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0A0A"/>
        </a:solidFill>
      </p:bgPr>
    </p:bg>
    <p:spTree>
      <p:nvGrpSpPr>
        <p:cNvPr id="1" name=""/>
        <p:cNvGrpSpPr/>
        <p:nvPr/>
      </p:nvGrpSpPr>
      <p:grpSpPr>
        <a:xfrm>
          <a:off x="0" y="0"/>
          <a:ext cx="0" cy="0"/>
          <a:chOff x="0" y="0"/>
          <a:chExt cx="0" cy="0"/>
        </a:xfrm>
      </p:grpSpPr>
      <p:sp>
        <p:nvSpPr>
          <p:cNvPr id="2" name="Text 0"/>
          <p:cNvSpPr txBox="1"/>
          <p:nvPr/>
        </p:nvSpPr>
        <p:spPr>
          <a:xfrm>
            <a:off x="640080" y="502920"/>
            <a:ext cx="7315200" cy="320040"/>
          </a:xfrm>
          <a:prstGeom prst="rect">
            <a:avLst/>
          </a:prstGeom>
          <a:noFill/>
          <a:ln/>
        </p:spPr>
        <p:txBody>
          <a:bodyPr wrap="square" lIns="0" tIns="0" rIns="0" bIns="0" rtlCol="0" anchor="ctr"/>
          <a:lstStyle/>
          <a:p>
            <a:pPr indent="0" marL="0">
              <a:buNone/>
            </a:pPr>
            <a:r>
              <a:rPr lang="en-US" sz="1200" b="1" spc="200" kern="0" dirty="0">
                <a:solidFill>
                  <a:srgbClr val="5E5CE6"/>
                </a:solidFill>
                <a:latin typeface="Calibri" pitchFamily="34" charset="0"/>
                <a:ea typeface="Calibri" pitchFamily="34" charset="-122"/>
                <a:cs typeface="Calibri" pitchFamily="34" charset="-120"/>
              </a:rPr>
              <a:t>TRANSPARENT BY DESIGN</a:t>
            </a:r>
            <a:endParaRPr lang="en-US" sz="1200" dirty="0"/>
          </a:p>
        </p:txBody>
      </p:sp>
      <p:sp>
        <p:nvSpPr>
          <p:cNvPr id="3" name="Text 1"/>
          <p:cNvSpPr txBox="1"/>
          <p:nvPr/>
        </p:nvSpPr>
        <p:spPr>
          <a:xfrm>
            <a:off x="640080" y="822960"/>
            <a:ext cx="10881360" cy="914400"/>
          </a:xfrm>
          <a:prstGeom prst="rect">
            <a:avLst/>
          </a:prstGeom>
          <a:noFill/>
          <a:ln/>
        </p:spPr>
        <p:txBody>
          <a:bodyPr wrap="square" lIns="0" tIns="0" rIns="0" bIns="0" rtlCol="0" anchor="ctr"/>
          <a:lstStyle/>
          <a:p>
            <a:pPr indent="0" marL="0">
              <a:buNone/>
            </a:pPr>
            <a:r>
              <a:rPr lang="en-US" sz="3000" b="1" dirty="0">
                <a:solidFill>
                  <a:srgbClr val="F5F5F7"/>
                </a:solidFill>
                <a:latin typeface="Calibri" pitchFamily="34" charset="0"/>
                <a:ea typeface="Calibri" pitchFamily="34" charset="-122"/>
                <a:cs typeface="Calibri" pitchFamily="34" charset="-120"/>
              </a:rPr>
              <a:t>A fully configurable scoring formula</a:t>
            </a:r>
            <a:endParaRPr lang="en-US" sz="3000" dirty="0"/>
          </a:p>
        </p:txBody>
      </p:sp>
      <p:sp>
        <p:nvSpPr>
          <p:cNvPr id="4" name="Shape 2"/>
          <p:cNvSpPr/>
          <p:nvPr/>
        </p:nvSpPr>
        <p:spPr>
          <a:xfrm>
            <a:off x="640080" y="2148840"/>
            <a:ext cx="10881360" cy="1051560"/>
          </a:xfrm>
          <a:prstGeom prst="roundRect">
            <a:avLst>
              <a:gd name="adj" fmla="val 10435"/>
            </a:avLst>
          </a:prstGeom>
          <a:solidFill>
            <a:srgbClr val="1F1F24"/>
          </a:solidFill>
          <a:ln/>
          <a:effectLst>
            <a:outerShdw sx="100000" sy="100000" kx="0" ky="0" algn="bl" rotWithShape="0" blurRad="101600" dist="38100" dir="5400000">
              <a:srgbClr val="000000">
                <a:alpha val="35000"/>
              </a:srgbClr>
            </a:outerShdw>
          </a:effectLst>
        </p:spPr>
      </p:sp>
      <p:sp>
        <p:nvSpPr>
          <p:cNvPr id="5" name="Text 3"/>
          <p:cNvSpPr txBox="1"/>
          <p:nvPr/>
        </p:nvSpPr>
        <p:spPr>
          <a:xfrm>
            <a:off x="822960" y="2148840"/>
            <a:ext cx="10515600" cy="1051560"/>
          </a:xfrm>
          <a:prstGeom prst="rect">
            <a:avLst/>
          </a:prstGeom>
          <a:noFill/>
          <a:ln/>
        </p:spPr>
        <p:txBody>
          <a:bodyPr wrap="square" lIns="0" tIns="0" rIns="0" bIns="0" rtlCol="0" anchor="ctr"/>
          <a:lstStyle/>
          <a:p>
            <a:pPr algn="ctr" indent="0" marL="0">
              <a:buNone/>
            </a:pPr>
            <a:r>
              <a:rPr lang="en-US" sz="1800" b="1" dirty="0">
                <a:solidFill>
                  <a:srgbClr val="F5F5F7"/>
                </a:solidFill>
                <a:latin typeface="Courier New" pitchFamily="34" charset="0"/>
                <a:ea typeface="Courier New" pitchFamily="34" charset="-122"/>
                <a:cs typeface="Courier New" pitchFamily="34" charset="-120"/>
              </a:rPr>
              <a:t>final score</a:t>
            </a:r>
            <a:pPr algn="ctr" indent="0" marL="0">
              <a:buNone/>
            </a:pPr>
            <a:r>
              <a:rPr lang="en-US" sz="1800" dirty="0">
                <a:solidFill>
                  <a:srgbClr val="9A9AA2"/>
                </a:solidFill>
                <a:latin typeface="Courier New" pitchFamily="34" charset="0"/>
                <a:ea typeface="Courier New" pitchFamily="34" charset="-122"/>
                <a:cs typeface="Courier New" pitchFamily="34" charset="-120"/>
              </a:rPr>
              <a:t>  =  </a:t>
            </a:r>
            <a:pPr algn="ctr" indent="0" marL="0">
              <a:buNone/>
            </a:pPr>
            <a:r>
              <a:rPr lang="en-US" sz="1800" b="1" dirty="0">
                <a:solidFill>
                  <a:srgbClr val="5E5CE6"/>
                </a:solidFill>
                <a:latin typeface="Courier New" pitchFamily="34" charset="0"/>
                <a:ea typeface="Courier New" pitchFamily="34" charset="-122"/>
                <a:cs typeface="Courier New" pitchFamily="34" charset="-120"/>
              </a:rPr>
              <a:t>semantic weight</a:t>
            </a:r>
            <a:pPr algn="ctr" indent="0" marL="0">
              <a:buNone/>
            </a:pPr>
            <a:r>
              <a:rPr lang="en-US" sz="1800" dirty="0">
                <a:solidFill>
                  <a:srgbClr val="9A9AA2"/>
                </a:solidFill>
                <a:latin typeface="Courier New" pitchFamily="34" charset="0"/>
                <a:ea typeface="Courier New" pitchFamily="34" charset="-122"/>
                <a:cs typeface="Courier New" pitchFamily="34" charset="-120"/>
              </a:rPr>
              <a:t> × similarity  +  </a:t>
            </a:r>
            <a:pPr algn="ctr" indent="0" marL="0">
              <a:buNone/>
            </a:pPr>
            <a:r>
              <a:rPr lang="en-US" sz="1800" b="1" dirty="0">
                <a:solidFill>
                  <a:srgbClr val="30D158"/>
                </a:solidFill>
                <a:latin typeface="Courier New" pitchFamily="34" charset="0"/>
                <a:ea typeface="Courier New" pitchFamily="34" charset="-122"/>
                <a:cs typeface="Courier New" pitchFamily="34" charset="-120"/>
              </a:rPr>
              <a:t>keyword weight</a:t>
            </a:r>
            <a:pPr algn="ctr" indent="0" marL="0">
              <a:buNone/>
            </a:pPr>
            <a:r>
              <a:rPr lang="en-US" sz="1800" dirty="0">
                <a:solidFill>
                  <a:srgbClr val="9A9AA2"/>
                </a:solidFill>
                <a:latin typeface="Courier New" pitchFamily="34" charset="0"/>
                <a:ea typeface="Courier New" pitchFamily="34" charset="-122"/>
                <a:cs typeface="Courier New" pitchFamily="34" charset="-120"/>
              </a:rPr>
              <a:t> × weighted skill coverage</a:t>
            </a:r>
            <a:endParaRPr lang="en-US" sz="1800" dirty="0"/>
          </a:p>
        </p:txBody>
      </p:sp>
      <p:sp>
        <p:nvSpPr>
          <p:cNvPr id="6" name="Shape 4"/>
          <p:cNvSpPr/>
          <p:nvPr/>
        </p:nvSpPr>
        <p:spPr>
          <a:xfrm>
            <a:off x="640080" y="3520440"/>
            <a:ext cx="3502152" cy="1691640"/>
          </a:xfrm>
          <a:prstGeom prst="roundRect">
            <a:avLst>
              <a:gd name="adj" fmla="val 6486"/>
            </a:avLst>
          </a:prstGeom>
          <a:solidFill>
            <a:srgbClr val="17171B"/>
          </a:solidFill>
          <a:ln/>
          <a:effectLst>
            <a:outerShdw sx="100000" sy="100000" kx="0" ky="0" algn="bl" rotWithShape="0" blurRad="101600" dist="38100" dir="5400000">
              <a:srgbClr val="000000">
                <a:alpha val="35000"/>
              </a:srgbClr>
            </a:outerShdw>
          </a:effectLst>
        </p:spPr>
      </p:sp>
      <p:sp>
        <p:nvSpPr>
          <p:cNvPr id="7" name="Shape 5"/>
          <p:cNvSpPr/>
          <p:nvPr/>
        </p:nvSpPr>
        <p:spPr>
          <a:xfrm>
            <a:off x="896112" y="3776472"/>
            <a:ext cx="457200" cy="457200"/>
          </a:xfrm>
          <a:prstGeom prst="ellipse">
            <a:avLst/>
          </a:prstGeom>
          <a:solidFill>
            <a:srgbClr val="3A3A8C"/>
          </a:solidFill>
          <a:ln/>
        </p:spPr>
      </p:sp>
      <p:sp>
        <p:nvSpPr>
          <p:cNvPr id="8" name="Text 6"/>
          <p:cNvSpPr txBox="1"/>
          <p:nvPr/>
        </p:nvSpPr>
        <p:spPr>
          <a:xfrm>
            <a:off x="896112" y="3758184"/>
            <a:ext cx="457200" cy="457200"/>
          </a:xfrm>
          <a:prstGeom prst="rect">
            <a:avLst/>
          </a:prstGeom>
          <a:noFill/>
          <a:ln/>
        </p:spPr>
        <p:txBody>
          <a:bodyPr wrap="square" lIns="0" tIns="0" rIns="0" bIns="0" rtlCol="0" anchor="ctr"/>
          <a:lstStyle/>
          <a:p>
            <a:pPr algn="ctr" indent="0" marL="0">
              <a:buNone/>
            </a:pPr>
            <a:r>
              <a:rPr lang="en-US" sz="1800" b="1" dirty="0">
                <a:solidFill>
                  <a:srgbClr val="5E5CE6"/>
                </a:solidFill>
                <a:latin typeface="Calibri" pitchFamily="34" charset="0"/>
                <a:ea typeface="Calibri" pitchFamily="34" charset="-122"/>
                <a:cs typeface="Calibri" pitchFamily="34" charset="-120"/>
              </a:rPr>
              <a:t>1</a:t>
            </a:r>
            <a:endParaRPr lang="en-US" sz="1800" dirty="0"/>
          </a:p>
        </p:txBody>
      </p:sp>
      <p:sp>
        <p:nvSpPr>
          <p:cNvPr id="9" name="Text 7"/>
          <p:cNvSpPr txBox="1"/>
          <p:nvPr/>
        </p:nvSpPr>
        <p:spPr>
          <a:xfrm>
            <a:off x="914400" y="4389120"/>
            <a:ext cx="2953512" cy="365760"/>
          </a:xfrm>
          <a:prstGeom prst="rect">
            <a:avLst/>
          </a:prstGeom>
          <a:noFill/>
          <a:ln/>
        </p:spPr>
        <p:txBody>
          <a:bodyPr wrap="square" lIns="0" tIns="0" rIns="0" bIns="0" rtlCol="0" anchor="ctr"/>
          <a:lstStyle/>
          <a:p>
            <a:pPr indent="0" marL="0">
              <a:buNone/>
            </a:pPr>
            <a:r>
              <a:rPr lang="en-US" sz="1350" b="1" dirty="0">
                <a:solidFill>
                  <a:srgbClr val="F5F5F7"/>
                </a:solidFill>
                <a:latin typeface="Calibri" pitchFamily="34" charset="0"/>
                <a:ea typeface="Calibri" pitchFamily="34" charset="-122"/>
                <a:cs typeface="Calibri" pitchFamily="34" charset="-120"/>
              </a:rPr>
              <a:t>No hard-coded constants</a:t>
            </a:r>
            <a:endParaRPr lang="en-US" sz="1350" dirty="0"/>
          </a:p>
        </p:txBody>
      </p:sp>
      <p:sp>
        <p:nvSpPr>
          <p:cNvPr id="10" name="Text 8"/>
          <p:cNvSpPr txBox="1"/>
          <p:nvPr/>
        </p:nvSpPr>
        <p:spPr>
          <a:xfrm>
            <a:off x="914400" y="4709160"/>
            <a:ext cx="2953512" cy="457200"/>
          </a:xfrm>
          <a:prstGeom prst="rect">
            <a:avLst/>
          </a:prstGeom>
          <a:noFill/>
          <a:ln/>
        </p:spPr>
        <p:txBody>
          <a:bodyPr wrap="square" lIns="0" tIns="0" rIns="0" bIns="0" rtlCol="0" anchor="ctr"/>
          <a:lstStyle/>
          <a:p>
            <a:pPr indent="0" marL="0">
              <a:buNone/>
            </a:pPr>
            <a:r>
              <a:rPr lang="en-US" sz="1050" dirty="0">
                <a:solidFill>
                  <a:srgbClr val="9A9AA2"/>
                </a:solidFill>
                <a:latin typeface="Calibri" pitchFamily="34" charset="0"/>
                <a:ea typeface="Calibri" pitchFamily="34" charset="-122"/>
                <a:cs typeface="Calibri" pitchFamily="34" charset="-120"/>
              </a:rPr>
              <a:t>Semantic/keyword balance, per-skill weights, and inferred-match credit are all sliders.</a:t>
            </a:r>
            <a:endParaRPr lang="en-US" sz="1050" dirty="0"/>
          </a:p>
        </p:txBody>
      </p:sp>
      <p:sp>
        <p:nvSpPr>
          <p:cNvPr id="11" name="Shape 9"/>
          <p:cNvSpPr/>
          <p:nvPr/>
        </p:nvSpPr>
        <p:spPr>
          <a:xfrm>
            <a:off x="4416552" y="3520440"/>
            <a:ext cx="3502152" cy="1691640"/>
          </a:xfrm>
          <a:prstGeom prst="roundRect">
            <a:avLst>
              <a:gd name="adj" fmla="val 6486"/>
            </a:avLst>
          </a:prstGeom>
          <a:solidFill>
            <a:srgbClr val="17171B"/>
          </a:solidFill>
          <a:ln/>
          <a:effectLst>
            <a:outerShdw sx="100000" sy="100000" kx="0" ky="0" algn="bl" rotWithShape="0" blurRad="101600" dist="38100" dir="5400000">
              <a:srgbClr val="000000">
                <a:alpha val="35000"/>
              </a:srgbClr>
            </a:outerShdw>
          </a:effectLst>
        </p:spPr>
      </p:sp>
      <p:sp>
        <p:nvSpPr>
          <p:cNvPr id="12" name="Shape 10"/>
          <p:cNvSpPr/>
          <p:nvPr/>
        </p:nvSpPr>
        <p:spPr>
          <a:xfrm>
            <a:off x="4672584" y="3776472"/>
            <a:ext cx="457200" cy="457200"/>
          </a:xfrm>
          <a:prstGeom prst="ellipse">
            <a:avLst/>
          </a:prstGeom>
          <a:solidFill>
            <a:srgbClr val="3A3A8C"/>
          </a:solidFill>
          <a:ln/>
        </p:spPr>
      </p:sp>
      <p:sp>
        <p:nvSpPr>
          <p:cNvPr id="13" name="Text 11"/>
          <p:cNvSpPr txBox="1"/>
          <p:nvPr/>
        </p:nvSpPr>
        <p:spPr>
          <a:xfrm>
            <a:off x="4672584" y="3758184"/>
            <a:ext cx="457200" cy="457200"/>
          </a:xfrm>
          <a:prstGeom prst="rect">
            <a:avLst/>
          </a:prstGeom>
          <a:noFill/>
          <a:ln/>
        </p:spPr>
        <p:txBody>
          <a:bodyPr wrap="square" lIns="0" tIns="0" rIns="0" bIns="0" rtlCol="0" anchor="ctr"/>
          <a:lstStyle/>
          <a:p>
            <a:pPr algn="ctr" indent="0" marL="0">
              <a:buNone/>
            </a:pPr>
            <a:r>
              <a:rPr lang="en-US" sz="1800" b="1" dirty="0">
                <a:solidFill>
                  <a:srgbClr val="5E5CE6"/>
                </a:solidFill>
                <a:latin typeface="Calibri" pitchFamily="34" charset="0"/>
                <a:ea typeface="Calibri" pitchFamily="34" charset="-122"/>
                <a:cs typeface="Calibri" pitchFamily="34" charset="-120"/>
              </a:rPr>
              <a:t>2</a:t>
            </a:r>
            <a:endParaRPr lang="en-US" sz="1800" dirty="0"/>
          </a:p>
        </p:txBody>
      </p:sp>
      <p:sp>
        <p:nvSpPr>
          <p:cNvPr id="14" name="Text 12"/>
          <p:cNvSpPr txBox="1"/>
          <p:nvPr/>
        </p:nvSpPr>
        <p:spPr>
          <a:xfrm>
            <a:off x="4690872" y="4389120"/>
            <a:ext cx="2953512" cy="365760"/>
          </a:xfrm>
          <a:prstGeom prst="rect">
            <a:avLst/>
          </a:prstGeom>
          <a:noFill/>
          <a:ln/>
        </p:spPr>
        <p:txBody>
          <a:bodyPr wrap="square" lIns="0" tIns="0" rIns="0" bIns="0" rtlCol="0" anchor="ctr"/>
          <a:lstStyle/>
          <a:p>
            <a:pPr indent="0" marL="0">
              <a:buNone/>
            </a:pPr>
            <a:r>
              <a:rPr lang="en-US" sz="1350" b="1" dirty="0">
                <a:solidFill>
                  <a:srgbClr val="F5F5F7"/>
                </a:solidFill>
                <a:latin typeface="Calibri" pitchFamily="34" charset="0"/>
                <a:ea typeface="Calibri" pitchFamily="34" charset="-122"/>
                <a:cs typeface="Calibri" pitchFamily="34" charset="-120"/>
              </a:rPr>
              <a:t>Recruiter-set criteria</a:t>
            </a:r>
            <a:endParaRPr lang="en-US" sz="1350" dirty="0"/>
          </a:p>
        </p:txBody>
      </p:sp>
      <p:sp>
        <p:nvSpPr>
          <p:cNvPr id="15" name="Text 13"/>
          <p:cNvSpPr txBox="1"/>
          <p:nvPr/>
        </p:nvSpPr>
        <p:spPr>
          <a:xfrm>
            <a:off x="4690872" y="4709160"/>
            <a:ext cx="2953512" cy="457200"/>
          </a:xfrm>
          <a:prstGeom prst="rect">
            <a:avLst/>
          </a:prstGeom>
          <a:noFill/>
          <a:ln/>
        </p:spPr>
        <p:txBody>
          <a:bodyPr wrap="square" lIns="0" tIns="0" rIns="0" bIns="0" rtlCol="0" anchor="ctr"/>
          <a:lstStyle/>
          <a:p>
            <a:pPr indent="0" marL="0">
              <a:buNone/>
            </a:pPr>
            <a:r>
              <a:rPr lang="en-US" sz="1050" dirty="0">
                <a:solidFill>
                  <a:srgbClr val="9A9AA2"/>
                </a:solidFill>
                <a:latin typeface="Calibri" pitchFamily="34" charset="0"/>
                <a:ea typeface="Calibri" pitchFamily="34" charset="-122"/>
                <a:cs typeface="Calibri" pitchFamily="34" charset="-120"/>
              </a:rPr>
              <a:t>Minimum years of experience, CGPA, education level, and field of study all factor in.</a:t>
            </a:r>
            <a:endParaRPr lang="en-US" sz="1050" dirty="0"/>
          </a:p>
        </p:txBody>
      </p:sp>
      <p:sp>
        <p:nvSpPr>
          <p:cNvPr id="16" name="Shape 14"/>
          <p:cNvSpPr/>
          <p:nvPr/>
        </p:nvSpPr>
        <p:spPr>
          <a:xfrm>
            <a:off x="8193024" y="3520440"/>
            <a:ext cx="3502152" cy="1691640"/>
          </a:xfrm>
          <a:prstGeom prst="roundRect">
            <a:avLst>
              <a:gd name="adj" fmla="val 6486"/>
            </a:avLst>
          </a:prstGeom>
          <a:solidFill>
            <a:srgbClr val="17171B"/>
          </a:solidFill>
          <a:ln/>
          <a:effectLst>
            <a:outerShdw sx="100000" sy="100000" kx="0" ky="0" algn="bl" rotWithShape="0" blurRad="101600" dist="38100" dir="5400000">
              <a:srgbClr val="000000">
                <a:alpha val="35000"/>
              </a:srgbClr>
            </a:outerShdw>
          </a:effectLst>
        </p:spPr>
      </p:sp>
      <p:sp>
        <p:nvSpPr>
          <p:cNvPr id="17" name="Shape 15"/>
          <p:cNvSpPr/>
          <p:nvPr/>
        </p:nvSpPr>
        <p:spPr>
          <a:xfrm>
            <a:off x="8449056" y="3776472"/>
            <a:ext cx="457200" cy="457200"/>
          </a:xfrm>
          <a:prstGeom prst="ellipse">
            <a:avLst/>
          </a:prstGeom>
          <a:solidFill>
            <a:srgbClr val="3A3A8C"/>
          </a:solidFill>
          <a:ln/>
        </p:spPr>
      </p:sp>
      <p:sp>
        <p:nvSpPr>
          <p:cNvPr id="18" name="Text 16"/>
          <p:cNvSpPr txBox="1"/>
          <p:nvPr/>
        </p:nvSpPr>
        <p:spPr>
          <a:xfrm>
            <a:off x="8449056" y="3758184"/>
            <a:ext cx="457200" cy="457200"/>
          </a:xfrm>
          <a:prstGeom prst="rect">
            <a:avLst/>
          </a:prstGeom>
          <a:noFill/>
          <a:ln/>
        </p:spPr>
        <p:txBody>
          <a:bodyPr wrap="square" lIns="0" tIns="0" rIns="0" bIns="0" rtlCol="0" anchor="ctr"/>
          <a:lstStyle/>
          <a:p>
            <a:pPr algn="ctr" indent="0" marL="0">
              <a:buNone/>
            </a:pPr>
            <a:r>
              <a:rPr lang="en-US" sz="1800" b="1" dirty="0">
                <a:solidFill>
                  <a:srgbClr val="5E5CE6"/>
                </a:solidFill>
                <a:latin typeface="Calibri" pitchFamily="34" charset="0"/>
                <a:ea typeface="Calibri" pitchFamily="34" charset="-122"/>
                <a:cs typeface="Calibri" pitchFamily="34" charset="-120"/>
              </a:rPr>
              <a:t>3</a:t>
            </a:r>
            <a:endParaRPr lang="en-US" sz="1800" dirty="0"/>
          </a:p>
        </p:txBody>
      </p:sp>
      <p:sp>
        <p:nvSpPr>
          <p:cNvPr id="19" name="Text 17"/>
          <p:cNvSpPr txBox="1"/>
          <p:nvPr/>
        </p:nvSpPr>
        <p:spPr>
          <a:xfrm>
            <a:off x="8467344" y="4389120"/>
            <a:ext cx="2953512" cy="365760"/>
          </a:xfrm>
          <a:prstGeom prst="rect">
            <a:avLst/>
          </a:prstGeom>
          <a:noFill/>
          <a:ln/>
        </p:spPr>
        <p:txBody>
          <a:bodyPr wrap="square" lIns="0" tIns="0" rIns="0" bIns="0" rtlCol="0" anchor="ctr"/>
          <a:lstStyle/>
          <a:p>
            <a:pPr indent="0" marL="0">
              <a:buNone/>
            </a:pPr>
            <a:r>
              <a:rPr lang="en-US" sz="1350" b="1" dirty="0">
                <a:solidFill>
                  <a:srgbClr val="F5F5F7"/>
                </a:solidFill>
                <a:latin typeface="Calibri" pitchFamily="34" charset="0"/>
                <a:ea typeface="Calibri" pitchFamily="34" charset="-122"/>
                <a:cs typeface="Calibri" pitchFamily="34" charset="-120"/>
              </a:rPr>
              <a:t>N/A is never a penalty</a:t>
            </a:r>
            <a:endParaRPr lang="en-US" sz="1350" dirty="0"/>
          </a:p>
        </p:txBody>
      </p:sp>
      <p:sp>
        <p:nvSpPr>
          <p:cNvPr id="20" name="Text 18"/>
          <p:cNvSpPr txBox="1"/>
          <p:nvPr/>
        </p:nvSpPr>
        <p:spPr>
          <a:xfrm>
            <a:off x="8467344" y="4709160"/>
            <a:ext cx="2953512" cy="457200"/>
          </a:xfrm>
          <a:prstGeom prst="rect">
            <a:avLst/>
          </a:prstGeom>
          <a:noFill/>
          <a:ln/>
        </p:spPr>
        <p:txBody>
          <a:bodyPr wrap="square" lIns="0" tIns="0" rIns="0" bIns="0" rtlCol="0" anchor="ctr"/>
          <a:lstStyle/>
          <a:p>
            <a:pPr indent="0" marL="0">
              <a:buNone/>
            </a:pPr>
            <a:r>
              <a:rPr lang="en-US" sz="1050" dirty="0">
                <a:solidFill>
                  <a:srgbClr val="9A9AA2"/>
                </a:solidFill>
                <a:latin typeface="Calibri" pitchFamily="34" charset="0"/>
                <a:ea typeface="Calibri" pitchFamily="34" charset="-122"/>
                <a:cs typeface="Calibri" pitchFamily="34" charset="-120"/>
              </a:rPr>
              <a:t>Only a confirmed shortfall counts against a candidate — an unverifiable field never does.</a:t>
            </a:r>
            <a:endParaRPr lang="en-US" sz="1050" dirty="0"/>
          </a:p>
        </p:txBody>
      </p:sp>
      <p:sp>
        <p:nvSpPr>
          <p:cNvPr id="21" name="Text 19"/>
          <p:cNvSpPr txBox="1"/>
          <p:nvPr/>
        </p:nvSpPr>
        <p:spPr>
          <a:xfrm>
            <a:off x="457200" y="6473952"/>
            <a:ext cx="7315200" cy="274320"/>
          </a:xfrm>
          <a:prstGeom prst="rect">
            <a:avLst/>
          </a:prstGeom>
          <a:noFill/>
          <a:ln/>
        </p:spPr>
        <p:txBody>
          <a:bodyPr wrap="square" lIns="0" tIns="0" rIns="0" bIns="0" rtlCol="0" anchor="ctr"/>
          <a:lstStyle/>
          <a:p>
            <a:pPr indent="0" marL="0">
              <a:buNone/>
            </a:pPr>
            <a:r>
              <a:rPr lang="en-US" sz="900" dirty="0">
                <a:solidFill>
                  <a:srgbClr val="9A9AA2"/>
                </a:solidFill>
                <a:latin typeface="Calibri" pitchFamily="34" charset="0"/>
                <a:ea typeface="Calibri" pitchFamily="34" charset="-122"/>
                <a:cs typeface="Calibri" pitchFamily="34" charset="-120"/>
              </a:rPr>
              <a:t>Resumeeit — Smart Shortlisting Engine</a:t>
            </a:r>
            <a:endParaRPr lang="en-US" sz="900" dirty="0"/>
          </a:p>
        </p:txBody>
      </p:sp>
      <p:sp>
        <p:nvSpPr>
          <p:cNvPr id="22" name="Text 20"/>
          <p:cNvSpPr txBox="1"/>
          <p:nvPr/>
        </p:nvSpPr>
        <p:spPr>
          <a:xfrm>
            <a:off x="11000232" y="6473952"/>
            <a:ext cx="731520" cy="274320"/>
          </a:xfrm>
          <a:prstGeom prst="rect">
            <a:avLst/>
          </a:prstGeom>
          <a:noFill/>
          <a:ln/>
        </p:spPr>
        <p:txBody>
          <a:bodyPr wrap="square" lIns="0" tIns="0" rIns="0" bIns="0" rtlCol="0" anchor="ctr"/>
          <a:lstStyle/>
          <a:p>
            <a:pPr algn="r" indent="0" marL="0">
              <a:buNone/>
            </a:pPr>
            <a:r>
              <a:rPr lang="en-US" sz="900" dirty="0">
                <a:solidFill>
                  <a:srgbClr val="9A9AA2"/>
                </a:solidFill>
                <a:latin typeface="Calibri" pitchFamily="34" charset="0"/>
                <a:ea typeface="Calibri" pitchFamily="34" charset="-122"/>
                <a:cs typeface="Calibri" pitchFamily="34" charset="-120"/>
              </a:rPr>
              <a:t>04 / 10</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0A0A"/>
        </a:solidFill>
      </p:bgPr>
    </p:bg>
    <p:spTree>
      <p:nvGrpSpPr>
        <p:cNvPr id="1" name=""/>
        <p:cNvGrpSpPr/>
        <p:nvPr/>
      </p:nvGrpSpPr>
      <p:grpSpPr>
        <a:xfrm>
          <a:off x="0" y="0"/>
          <a:ext cx="0" cy="0"/>
          <a:chOff x="0" y="0"/>
          <a:chExt cx="0" cy="0"/>
        </a:xfrm>
      </p:grpSpPr>
      <p:sp>
        <p:nvSpPr>
          <p:cNvPr id="2" name="Text 0"/>
          <p:cNvSpPr txBox="1"/>
          <p:nvPr/>
        </p:nvSpPr>
        <p:spPr>
          <a:xfrm>
            <a:off x="640080" y="502920"/>
            <a:ext cx="7315200" cy="320040"/>
          </a:xfrm>
          <a:prstGeom prst="rect">
            <a:avLst/>
          </a:prstGeom>
          <a:noFill/>
          <a:ln/>
        </p:spPr>
        <p:txBody>
          <a:bodyPr wrap="square" lIns="0" tIns="0" rIns="0" bIns="0" rtlCol="0" anchor="ctr"/>
          <a:lstStyle/>
          <a:p>
            <a:pPr indent="0" marL="0">
              <a:buNone/>
            </a:pPr>
            <a:r>
              <a:rPr lang="en-US" sz="1200" b="1" spc="200" kern="0" dirty="0">
                <a:solidFill>
                  <a:srgbClr val="5E5CE6"/>
                </a:solidFill>
                <a:latin typeface="Calibri" pitchFamily="34" charset="0"/>
                <a:ea typeface="Calibri" pitchFamily="34" charset="-122"/>
                <a:cs typeface="Calibri" pitchFamily="34" charset="-120"/>
              </a:rPr>
              <a:t>EXPLAINABILITY</a:t>
            </a:r>
            <a:endParaRPr lang="en-US" sz="1200" dirty="0"/>
          </a:p>
        </p:txBody>
      </p:sp>
      <p:sp>
        <p:nvSpPr>
          <p:cNvPr id="3" name="Text 1"/>
          <p:cNvSpPr txBox="1"/>
          <p:nvPr/>
        </p:nvSpPr>
        <p:spPr>
          <a:xfrm>
            <a:off x="640080" y="822960"/>
            <a:ext cx="10789920" cy="914400"/>
          </a:xfrm>
          <a:prstGeom prst="rect">
            <a:avLst/>
          </a:prstGeom>
          <a:noFill/>
          <a:ln/>
        </p:spPr>
        <p:txBody>
          <a:bodyPr wrap="square" lIns="0" tIns="0" rIns="0" bIns="0" rtlCol="0" anchor="ctr"/>
          <a:lstStyle/>
          <a:p>
            <a:pPr indent="0" marL="0">
              <a:buNone/>
            </a:pPr>
            <a:r>
              <a:rPr lang="en-US" sz="3200" b="1" dirty="0">
                <a:solidFill>
                  <a:srgbClr val="F5F5F7"/>
                </a:solidFill>
                <a:latin typeface="Calibri" pitchFamily="34" charset="0"/>
                <a:ea typeface="Calibri" pitchFamily="34" charset="-122"/>
                <a:cs typeface="Calibri" pitchFamily="34" charset="-120"/>
              </a:rPr>
              <a:t>Every ranking comes with a reason</a:t>
            </a:r>
            <a:endParaRPr lang="en-US" sz="3200" dirty="0"/>
          </a:p>
        </p:txBody>
      </p:sp>
      <p:sp>
        <p:nvSpPr>
          <p:cNvPr id="4" name="Shape 2"/>
          <p:cNvSpPr/>
          <p:nvPr/>
        </p:nvSpPr>
        <p:spPr>
          <a:xfrm>
            <a:off x="640080" y="2148840"/>
            <a:ext cx="10881360" cy="1143000"/>
          </a:xfrm>
          <a:prstGeom prst="roundRect">
            <a:avLst>
              <a:gd name="adj" fmla="val 9600"/>
            </a:avLst>
          </a:prstGeom>
          <a:solidFill>
            <a:srgbClr val="17171B"/>
          </a:solidFill>
          <a:ln/>
          <a:effectLst>
            <a:outerShdw sx="100000" sy="100000" kx="0" ky="0" algn="bl" rotWithShape="0" blurRad="101600" dist="38100" dir="5400000">
              <a:srgbClr val="000000">
                <a:alpha val="35000"/>
              </a:srgbClr>
            </a:outerShdw>
          </a:effectLst>
        </p:spPr>
      </p:sp>
      <p:sp>
        <p:nvSpPr>
          <p:cNvPr id="5" name="Shape 3"/>
          <p:cNvSpPr/>
          <p:nvPr/>
        </p:nvSpPr>
        <p:spPr>
          <a:xfrm>
            <a:off x="914400" y="2441448"/>
            <a:ext cx="548640" cy="548640"/>
          </a:xfrm>
          <a:prstGeom prst="ellipse">
            <a:avLst/>
          </a:prstGeom>
          <a:solidFill>
            <a:srgbClr val="5E5CE6"/>
          </a:solidFill>
          <a:ln/>
        </p:spPr>
      </p:sp>
      <p:sp>
        <p:nvSpPr>
          <p:cNvPr id="6" name="Text 4"/>
          <p:cNvSpPr txBox="1"/>
          <p:nvPr/>
        </p:nvSpPr>
        <p:spPr>
          <a:xfrm>
            <a:off x="914400" y="2423160"/>
            <a:ext cx="548640" cy="548640"/>
          </a:xfrm>
          <a:prstGeom prst="rect">
            <a:avLst/>
          </a:prstGeom>
          <a:noFill/>
          <a:ln/>
        </p:spPr>
        <p:txBody>
          <a:bodyPr wrap="square" lIns="0" tIns="0" rIns="0" bIns="0" rtlCol="0" anchor="ctr"/>
          <a:lstStyle/>
          <a:p>
            <a:pPr algn="ctr" indent="0" marL="0">
              <a:buNone/>
            </a:pPr>
            <a:r>
              <a:rPr lang="en-US" sz="2000" b="1" dirty="0">
                <a:solidFill>
                  <a:srgbClr val="F5F5F7"/>
                </a:solidFill>
                <a:latin typeface="Calibri" pitchFamily="34" charset="0"/>
                <a:ea typeface="Calibri" pitchFamily="34" charset="-122"/>
                <a:cs typeface="Calibri" pitchFamily="34" charset="-120"/>
              </a:rPr>
              <a:t>✓</a:t>
            </a:r>
            <a:endParaRPr lang="en-US" sz="2000" dirty="0"/>
          </a:p>
        </p:txBody>
      </p:sp>
      <p:sp>
        <p:nvSpPr>
          <p:cNvPr id="7" name="Text 5"/>
          <p:cNvSpPr txBox="1"/>
          <p:nvPr/>
        </p:nvSpPr>
        <p:spPr>
          <a:xfrm>
            <a:off x="1691640" y="2313432"/>
            <a:ext cx="3931920" cy="822960"/>
          </a:xfrm>
          <a:prstGeom prst="rect">
            <a:avLst/>
          </a:prstGeom>
          <a:noFill/>
          <a:ln/>
        </p:spPr>
        <p:txBody>
          <a:bodyPr wrap="square" lIns="0" tIns="0" rIns="0" bIns="0" rtlCol="0" anchor="ctr"/>
          <a:lstStyle/>
          <a:p>
            <a:pPr indent="0" marL="0">
              <a:buNone/>
            </a:pPr>
            <a:r>
              <a:rPr lang="en-US" sz="1600" b="1" dirty="0">
                <a:solidFill>
                  <a:srgbClr val="F5F5F7"/>
                </a:solidFill>
                <a:latin typeface="Calibri" pitchFamily="34" charset="0"/>
                <a:ea typeface="Calibri" pitchFamily="34" charset="-122"/>
                <a:cs typeface="Calibri" pitchFamily="34" charset="-120"/>
              </a:rPr>
              <a:t>Top-3 explanations</a:t>
            </a:r>
            <a:endParaRPr lang="en-US" sz="1600" dirty="0"/>
          </a:p>
        </p:txBody>
      </p:sp>
      <p:sp>
        <p:nvSpPr>
          <p:cNvPr id="8" name="Text 6"/>
          <p:cNvSpPr txBox="1"/>
          <p:nvPr/>
        </p:nvSpPr>
        <p:spPr>
          <a:xfrm>
            <a:off x="5760720" y="2313432"/>
            <a:ext cx="5532120" cy="822960"/>
          </a:xfrm>
          <a:prstGeom prst="rect">
            <a:avLst/>
          </a:prstGeom>
          <a:noFill/>
          <a:ln/>
        </p:spPr>
        <p:txBody>
          <a:bodyPr wrap="square" lIns="0" tIns="0" rIns="0" bIns="0" rtlCol="0" anchor="ctr"/>
          <a:lstStyle/>
          <a:p>
            <a:pPr indent="0" marL="0">
              <a:buNone/>
            </a:pPr>
            <a:r>
              <a:rPr lang="en-US" sz="1200" dirty="0">
                <a:solidFill>
                  <a:srgbClr val="9A9AA2"/>
                </a:solidFill>
                <a:latin typeface="Calibri" pitchFamily="34" charset="0"/>
                <a:ea typeface="Calibri" pitchFamily="34" charset="-122"/>
                <a:cs typeface="Calibri" pitchFamily="34" charset="-120"/>
              </a:rPr>
              <a:t>Plain-language breakdown of matched, inferred, and missing skills for the top candidates.</a:t>
            </a:r>
            <a:endParaRPr lang="en-US" sz="1200" dirty="0"/>
          </a:p>
        </p:txBody>
      </p:sp>
      <p:sp>
        <p:nvSpPr>
          <p:cNvPr id="9" name="Shape 7"/>
          <p:cNvSpPr/>
          <p:nvPr/>
        </p:nvSpPr>
        <p:spPr>
          <a:xfrm>
            <a:off x="640080" y="3474720"/>
            <a:ext cx="10881360" cy="1143000"/>
          </a:xfrm>
          <a:prstGeom prst="roundRect">
            <a:avLst>
              <a:gd name="adj" fmla="val 9600"/>
            </a:avLst>
          </a:prstGeom>
          <a:solidFill>
            <a:srgbClr val="17171B"/>
          </a:solidFill>
          <a:ln/>
          <a:effectLst>
            <a:outerShdw sx="100000" sy="100000" kx="0" ky="0" algn="bl" rotWithShape="0" blurRad="101600" dist="38100" dir="5400000">
              <a:srgbClr val="000000">
                <a:alpha val="35000"/>
              </a:srgbClr>
            </a:outerShdw>
          </a:effectLst>
        </p:spPr>
      </p:sp>
      <p:sp>
        <p:nvSpPr>
          <p:cNvPr id="10" name="Shape 8"/>
          <p:cNvSpPr/>
          <p:nvPr/>
        </p:nvSpPr>
        <p:spPr>
          <a:xfrm>
            <a:off x="914400" y="3767328"/>
            <a:ext cx="548640" cy="548640"/>
          </a:xfrm>
          <a:prstGeom prst="ellipse">
            <a:avLst/>
          </a:prstGeom>
          <a:solidFill>
            <a:srgbClr val="5E5CE6"/>
          </a:solidFill>
          <a:ln/>
        </p:spPr>
      </p:sp>
      <p:sp>
        <p:nvSpPr>
          <p:cNvPr id="11" name="Text 9"/>
          <p:cNvSpPr txBox="1"/>
          <p:nvPr/>
        </p:nvSpPr>
        <p:spPr>
          <a:xfrm>
            <a:off x="914400" y="3749040"/>
            <a:ext cx="548640" cy="548640"/>
          </a:xfrm>
          <a:prstGeom prst="rect">
            <a:avLst/>
          </a:prstGeom>
          <a:noFill/>
          <a:ln/>
        </p:spPr>
        <p:txBody>
          <a:bodyPr wrap="square" lIns="0" tIns="0" rIns="0" bIns="0" rtlCol="0" anchor="ctr"/>
          <a:lstStyle/>
          <a:p>
            <a:pPr algn="ctr" indent="0" marL="0">
              <a:buNone/>
            </a:pPr>
            <a:r>
              <a:rPr lang="en-US" sz="2000" b="1" dirty="0">
                <a:solidFill>
                  <a:srgbClr val="F5F5F7"/>
                </a:solidFill>
                <a:latin typeface="Calibri" pitchFamily="34" charset="0"/>
                <a:ea typeface="Calibri" pitchFamily="34" charset="-122"/>
                <a:cs typeface="Calibri" pitchFamily="34" charset="-120"/>
              </a:rPr>
              <a:t>?</a:t>
            </a:r>
            <a:endParaRPr lang="en-US" sz="2000" dirty="0"/>
          </a:p>
        </p:txBody>
      </p:sp>
      <p:sp>
        <p:nvSpPr>
          <p:cNvPr id="12" name="Text 10"/>
          <p:cNvSpPr txBox="1"/>
          <p:nvPr/>
        </p:nvSpPr>
        <p:spPr>
          <a:xfrm>
            <a:off x="1691640" y="3639312"/>
            <a:ext cx="3931920" cy="822960"/>
          </a:xfrm>
          <a:prstGeom prst="rect">
            <a:avLst/>
          </a:prstGeom>
          <a:noFill/>
          <a:ln/>
        </p:spPr>
        <p:txBody>
          <a:bodyPr wrap="square" lIns="0" tIns="0" rIns="0" bIns="0" rtlCol="0" anchor="ctr"/>
          <a:lstStyle/>
          <a:p>
            <a:pPr indent="0" marL="0">
              <a:buNone/>
            </a:pPr>
            <a:r>
              <a:rPr lang="en-US" sz="1600" b="1" dirty="0">
                <a:solidFill>
                  <a:srgbClr val="F5F5F7"/>
                </a:solidFill>
                <a:latin typeface="Calibri" pitchFamily="34" charset="0"/>
                <a:ea typeface="Calibri" pitchFamily="34" charset="-122"/>
                <a:cs typeface="Calibri" pitchFamily="34" charset="-120"/>
              </a:rPr>
              <a:t>Offline recruiter chatbot</a:t>
            </a:r>
            <a:endParaRPr lang="en-US" sz="1600" dirty="0"/>
          </a:p>
        </p:txBody>
      </p:sp>
      <p:sp>
        <p:nvSpPr>
          <p:cNvPr id="13" name="Text 11"/>
          <p:cNvSpPr txBox="1"/>
          <p:nvPr/>
        </p:nvSpPr>
        <p:spPr>
          <a:xfrm>
            <a:off x="5760720" y="3639312"/>
            <a:ext cx="5532120" cy="822960"/>
          </a:xfrm>
          <a:prstGeom prst="rect">
            <a:avLst/>
          </a:prstGeom>
          <a:noFill/>
          <a:ln/>
        </p:spPr>
        <p:txBody>
          <a:bodyPr wrap="square" lIns="0" tIns="0" rIns="0" bIns="0" rtlCol="0" anchor="ctr"/>
          <a:lstStyle/>
          <a:p>
            <a:pPr indent="0" marL="0">
              <a:buNone/>
            </a:pPr>
            <a:r>
              <a:rPr lang="en-US" sz="1200" dirty="0">
                <a:solidFill>
                  <a:srgbClr val="9A9AA2"/>
                </a:solidFill>
                <a:latin typeface="Calibri" pitchFamily="34" charset="0"/>
                <a:ea typeface="Calibri" pitchFamily="34" charset="-122"/>
                <a:cs typeface="Calibri" pitchFamily="34" charset="-120"/>
              </a:rPr>
              <a:t>Ask “Why is Candidate X ranked above Candidate Y?” — answered from real data, zero network calls, zero LLM.</a:t>
            </a:r>
            <a:endParaRPr lang="en-US" sz="1200" dirty="0"/>
          </a:p>
        </p:txBody>
      </p:sp>
      <p:sp>
        <p:nvSpPr>
          <p:cNvPr id="14" name="Shape 12"/>
          <p:cNvSpPr/>
          <p:nvPr/>
        </p:nvSpPr>
        <p:spPr>
          <a:xfrm>
            <a:off x="640080" y="4800600"/>
            <a:ext cx="10881360" cy="1143000"/>
          </a:xfrm>
          <a:prstGeom prst="roundRect">
            <a:avLst>
              <a:gd name="adj" fmla="val 9600"/>
            </a:avLst>
          </a:prstGeom>
          <a:solidFill>
            <a:srgbClr val="17171B"/>
          </a:solidFill>
          <a:ln/>
          <a:effectLst>
            <a:outerShdw sx="100000" sy="100000" kx="0" ky="0" algn="bl" rotWithShape="0" blurRad="101600" dist="38100" dir="5400000">
              <a:srgbClr val="000000">
                <a:alpha val="35000"/>
              </a:srgbClr>
            </a:outerShdw>
          </a:effectLst>
        </p:spPr>
      </p:sp>
      <p:sp>
        <p:nvSpPr>
          <p:cNvPr id="15" name="Shape 13"/>
          <p:cNvSpPr/>
          <p:nvPr/>
        </p:nvSpPr>
        <p:spPr>
          <a:xfrm>
            <a:off x="914400" y="5093208"/>
            <a:ext cx="548640" cy="548640"/>
          </a:xfrm>
          <a:prstGeom prst="ellipse">
            <a:avLst/>
          </a:prstGeom>
          <a:solidFill>
            <a:srgbClr val="5E5CE6"/>
          </a:solidFill>
          <a:ln/>
        </p:spPr>
      </p:sp>
      <p:sp>
        <p:nvSpPr>
          <p:cNvPr id="16" name="Text 14"/>
          <p:cNvSpPr txBox="1"/>
          <p:nvPr/>
        </p:nvSpPr>
        <p:spPr>
          <a:xfrm>
            <a:off x="914400" y="5074920"/>
            <a:ext cx="548640" cy="548640"/>
          </a:xfrm>
          <a:prstGeom prst="rect">
            <a:avLst/>
          </a:prstGeom>
          <a:noFill/>
          <a:ln/>
        </p:spPr>
        <p:txBody>
          <a:bodyPr wrap="square" lIns="0" tIns="0" rIns="0" bIns="0" rtlCol="0" anchor="ctr"/>
          <a:lstStyle/>
          <a:p>
            <a:pPr algn="ctr" indent="0" marL="0">
              <a:buNone/>
            </a:pPr>
            <a:r>
              <a:rPr lang="en-US" sz="2000" b="1" dirty="0">
                <a:solidFill>
                  <a:srgbClr val="F5F5F7"/>
                </a:solidFill>
                <a:latin typeface="Calibri" pitchFamily="34" charset="0"/>
                <a:ea typeface="Calibri" pitchFamily="34" charset="-122"/>
                <a:cs typeface="Calibri" pitchFamily="34" charset="-120"/>
              </a:rPr>
              <a:t>👁</a:t>
            </a:r>
            <a:endParaRPr lang="en-US" sz="2000" dirty="0"/>
          </a:p>
        </p:txBody>
      </p:sp>
      <p:sp>
        <p:nvSpPr>
          <p:cNvPr id="17" name="Text 15"/>
          <p:cNvSpPr txBox="1"/>
          <p:nvPr/>
        </p:nvSpPr>
        <p:spPr>
          <a:xfrm>
            <a:off x="1691640" y="4965192"/>
            <a:ext cx="3931920" cy="822960"/>
          </a:xfrm>
          <a:prstGeom prst="rect">
            <a:avLst/>
          </a:prstGeom>
          <a:noFill/>
          <a:ln/>
        </p:spPr>
        <p:txBody>
          <a:bodyPr wrap="square" lIns="0" tIns="0" rIns="0" bIns="0" rtlCol="0" anchor="ctr"/>
          <a:lstStyle/>
          <a:p>
            <a:pPr indent="0" marL="0">
              <a:buNone/>
            </a:pPr>
            <a:r>
              <a:rPr lang="en-US" sz="1600" b="1" dirty="0">
                <a:solidFill>
                  <a:srgbClr val="F5F5F7"/>
                </a:solidFill>
                <a:latin typeface="Calibri" pitchFamily="34" charset="0"/>
                <a:ea typeface="Calibri" pitchFamily="34" charset="-122"/>
                <a:cs typeface="Calibri" pitchFamily="34" charset="-120"/>
              </a:rPr>
              <a:t>In-document highlighting</a:t>
            </a:r>
            <a:endParaRPr lang="en-US" sz="1600" dirty="0"/>
          </a:p>
        </p:txBody>
      </p:sp>
      <p:sp>
        <p:nvSpPr>
          <p:cNvPr id="18" name="Text 16"/>
          <p:cNvSpPr txBox="1"/>
          <p:nvPr/>
        </p:nvSpPr>
        <p:spPr>
          <a:xfrm>
            <a:off x="5760720" y="4965192"/>
            <a:ext cx="5532120" cy="822960"/>
          </a:xfrm>
          <a:prstGeom prst="rect">
            <a:avLst/>
          </a:prstGeom>
          <a:noFill/>
          <a:ln/>
        </p:spPr>
        <p:txBody>
          <a:bodyPr wrap="square" lIns="0" tIns="0" rIns="0" bIns="0" rtlCol="0" anchor="ctr"/>
          <a:lstStyle/>
          <a:p>
            <a:pPr indent="0" marL="0">
              <a:buNone/>
            </a:pPr>
            <a:r>
              <a:rPr lang="en-US" sz="1200" dirty="0">
                <a:solidFill>
                  <a:srgbClr val="9A9AA2"/>
                </a:solidFill>
                <a:latin typeface="Calibri" pitchFamily="34" charset="0"/>
                <a:ea typeface="Calibri" pitchFamily="34" charset="-122"/>
                <a:cs typeface="Calibri" pitchFamily="34" charset="-120"/>
              </a:rPr>
              <a:t>Open the actual PDF or DOCX with matches highlighted directly on the resume — not just a summary.</a:t>
            </a:r>
            <a:endParaRPr lang="en-US" sz="1200" dirty="0"/>
          </a:p>
        </p:txBody>
      </p:sp>
      <p:sp>
        <p:nvSpPr>
          <p:cNvPr id="19" name="Text 17"/>
          <p:cNvSpPr txBox="1"/>
          <p:nvPr/>
        </p:nvSpPr>
        <p:spPr>
          <a:xfrm>
            <a:off x="457200" y="6473952"/>
            <a:ext cx="7315200" cy="274320"/>
          </a:xfrm>
          <a:prstGeom prst="rect">
            <a:avLst/>
          </a:prstGeom>
          <a:noFill/>
          <a:ln/>
        </p:spPr>
        <p:txBody>
          <a:bodyPr wrap="square" lIns="0" tIns="0" rIns="0" bIns="0" rtlCol="0" anchor="ctr"/>
          <a:lstStyle/>
          <a:p>
            <a:pPr indent="0" marL="0">
              <a:buNone/>
            </a:pPr>
            <a:r>
              <a:rPr lang="en-US" sz="900" dirty="0">
                <a:solidFill>
                  <a:srgbClr val="9A9AA2"/>
                </a:solidFill>
                <a:latin typeface="Calibri" pitchFamily="34" charset="0"/>
                <a:ea typeface="Calibri" pitchFamily="34" charset="-122"/>
                <a:cs typeface="Calibri" pitchFamily="34" charset="-120"/>
              </a:rPr>
              <a:t>Resumeeit — Smart Shortlisting Engine</a:t>
            </a:r>
            <a:endParaRPr lang="en-US" sz="900" dirty="0"/>
          </a:p>
        </p:txBody>
      </p:sp>
      <p:sp>
        <p:nvSpPr>
          <p:cNvPr id="20" name="Text 18"/>
          <p:cNvSpPr txBox="1"/>
          <p:nvPr/>
        </p:nvSpPr>
        <p:spPr>
          <a:xfrm>
            <a:off x="11000232" y="6473952"/>
            <a:ext cx="731520" cy="274320"/>
          </a:xfrm>
          <a:prstGeom prst="rect">
            <a:avLst/>
          </a:prstGeom>
          <a:noFill/>
          <a:ln/>
        </p:spPr>
        <p:txBody>
          <a:bodyPr wrap="square" lIns="0" tIns="0" rIns="0" bIns="0" rtlCol="0" anchor="ctr"/>
          <a:lstStyle/>
          <a:p>
            <a:pPr algn="r" indent="0" marL="0">
              <a:buNone/>
            </a:pPr>
            <a:r>
              <a:rPr lang="en-US" sz="900" dirty="0">
                <a:solidFill>
                  <a:srgbClr val="9A9AA2"/>
                </a:solidFill>
                <a:latin typeface="Calibri" pitchFamily="34" charset="0"/>
                <a:ea typeface="Calibri" pitchFamily="34" charset="-122"/>
                <a:cs typeface="Calibri" pitchFamily="34" charset="-120"/>
              </a:rPr>
              <a:t>05 / 10</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0A0A"/>
        </a:solidFill>
      </p:bgPr>
    </p:bg>
    <p:spTree>
      <p:nvGrpSpPr>
        <p:cNvPr id="1" name=""/>
        <p:cNvGrpSpPr/>
        <p:nvPr/>
      </p:nvGrpSpPr>
      <p:grpSpPr>
        <a:xfrm>
          <a:off x="0" y="0"/>
          <a:ext cx="0" cy="0"/>
          <a:chOff x="0" y="0"/>
          <a:chExt cx="0" cy="0"/>
        </a:xfrm>
      </p:grpSpPr>
      <p:sp>
        <p:nvSpPr>
          <p:cNvPr id="2" name="Text 0"/>
          <p:cNvSpPr txBox="1"/>
          <p:nvPr/>
        </p:nvSpPr>
        <p:spPr>
          <a:xfrm>
            <a:off x="640080" y="502920"/>
            <a:ext cx="7315200" cy="320040"/>
          </a:xfrm>
          <a:prstGeom prst="rect">
            <a:avLst/>
          </a:prstGeom>
          <a:noFill/>
          <a:ln/>
        </p:spPr>
        <p:txBody>
          <a:bodyPr wrap="square" lIns="0" tIns="0" rIns="0" bIns="0" rtlCol="0" anchor="ctr"/>
          <a:lstStyle/>
          <a:p>
            <a:pPr indent="0" marL="0">
              <a:buNone/>
            </a:pPr>
            <a:r>
              <a:rPr lang="en-US" sz="1200" b="1" spc="200" kern="0" dirty="0">
                <a:solidFill>
                  <a:srgbClr val="5E5CE6"/>
                </a:solidFill>
                <a:latin typeface="Calibri" pitchFamily="34" charset="0"/>
                <a:ea typeface="Calibri" pitchFamily="34" charset="-122"/>
                <a:cs typeface="Calibri" pitchFamily="34" charset="-120"/>
              </a:rPr>
              <a:t>BEYOND THE CORE REQUIREMENT</a:t>
            </a:r>
            <a:endParaRPr lang="en-US" sz="1200" dirty="0"/>
          </a:p>
        </p:txBody>
      </p:sp>
      <p:sp>
        <p:nvSpPr>
          <p:cNvPr id="3" name="Text 1"/>
          <p:cNvSpPr txBox="1"/>
          <p:nvPr/>
        </p:nvSpPr>
        <p:spPr>
          <a:xfrm>
            <a:off x="640080" y="822960"/>
            <a:ext cx="10972800" cy="914400"/>
          </a:xfrm>
          <a:prstGeom prst="rect">
            <a:avLst/>
          </a:prstGeom>
          <a:noFill/>
          <a:ln/>
        </p:spPr>
        <p:txBody>
          <a:bodyPr wrap="square" lIns="0" tIns="0" rIns="0" bIns="0" rtlCol="0" anchor="ctr"/>
          <a:lstStyle/>
          <a:p>
            <a:pPr indent="0" marL="0">
              <a:buNone/>
            </a:pPr>
            <a:r>
              <a:rPr lang="en-US" sz="2800" b="1" dirty="0">
                <a:solidFill>
                  <a:srgbClr val="F5F5F7"/>
                </a:solidFill>
                <a:latin typeface="Calibri" pitchFamily="34" charset="0"/>
                <a:ea typeface="Calibri" pitchFamily="34" charset="-122"/>
                <a:cs typeface="Calibri" pitchFamily="34" charset="-120"/>
              </a:rPr>
              <a:t>A complete hiring pipeline, not just a script</a:t>
            </a:r>
            <a:endParaRPr lang="en-US" sz="2800" dirty="0"/>
          </a:p>
        </p:txBody>
      </p:sp>
      <p:sp>
        <p:nvSpPr>
          <p:cNvPr id="4" name="Shape 2"/>
          <p:cNvSpPr/>
          <p:nvPr/>
        </p:nvSpPr>
        <p:spPr>
          <a:xfrm>
            <a:off x="640080" y="2331720"/>
            <a:ext cx="1645920" cy="3017520"/>
          </a:xfrm>
          <a:prstGeom prst="roundRect">
            <a:avLst>
              <a:gd name="adj" fmla="val 6667"/>
            </a:avLst>
          </a:prstGeom>
          <a:solidFill>
            <a:srgbClr val="17171B"/>
          </a:solidFill>
          <a:ln/>
          <a:effectLst>
            <a:outerShdw sx="100000" sy="100000" kx="0" ky="0" algn="bl" rotWithShape="0" blurRad="101600" dist="38100" dir="5400000">
              <a:srgbClr val="000000">
                <a:alpha val="35000"/>
              </a:srgbClr>
            </a:outerShdw>
          </a:effectLst>
        </p:spPr>
      </p:sp>
      <p:sp>
        <p:nvSpPr>
          <p:cNvPr id="5" name="Shape 3"/>
          <p:cNvSpPr/>
          <p:nvPr/>
        </p:nvSpPr>
        <p:spPr>
          <a:xfrm>
            <a:off x="1211580" y="2587752"/>
            <a:ext cx="502920" cy="502920"/>
          </a:xfrm>
          <a:prstGeom prst="ellipse">
            <a:avLst/>
          </a:prstGeom>
          <a:solidFill>
            <a:srgbClr val="5E5CE6"/>
          </a:solidFill>
          <a:ln/>
        </p:spPr>
      </p:sp>
      <p:sp>
        <p:nvSpPr>
          <p:cNvPr id="6" name="Text 4"/>
          <p:cNvSpPr txBox="1"/>
          <p:nvPr/>
        </p:nvSpPr>
        <p:spPr>
          <a:xfrm>
            <a:off x="1211580" y="2569464"/>
            <a:ext cx="502920" cy="502920"/>
          </a:xfrm>
          <a:prstGeom prst="rect">
            <a:avLst/>
          </a:prstGeom>
          <a:noFill/>
          <a:ln/>
        </p:spPr>
        <p:txBody>
          <a:bodyPr wrap="square" lIns="0" tIns="0" rIns="0" bIns="0" rtlCol="0" anchor="ctr"/>
          <a:lstStyle/>
          <a:p>
            <a:pPr algn="ctr" indent="0" marL="0">
              <a:buNone/>
            </a:pPr>
            <a:r>
              <a:rPr lang="en-US" sz="1800" b="1" dirty="0">
                <a:solidFill>
                  <a:srgbClr val="F5F5F7"/>
                </a:solidFill>
                <a:latin typeface="Calibri" pitchFamily="34" charset="0"/>
                <a:ea typeface="Calibri" pitchFamily="34" charset="-122"/>
                <a:cs typeface="Calibri" pitchFamily="34" charset="-120"/>
              </a:rPr>
              <a:t>1</a:t>
            </a:r>
            <a:endParaRPr lang="en-US" sz="1800" dirty="0"/>
          </a:p>
        </p:txBody>
      </p:sp>
      <p:sp>
        <p:nvSpPr>
          <p:cNvPr id="7" name="Text 5"/>
          <p:cNvSpPr txBox="1"/>
          <p:nvPr/>
        </p:nvSpPr>
        <p:spPr>
          <a:xfrm>
            <a:off x="749808" y="3291840"/>
            <a:ext cx="1426464" cy="640080"/>
          </a:xfrm>
          <a:prstGeom prst="rect">
            <a:avLst/>
          </a:prstGeom>
          <a:noFill/>
          <a:ln/>
        </p:spPr>
        <p:txBody>
          <a:bodyPr wrap="square" lIns="0" tIns="0" rIns="0" bIns="0" rtlCol="0" anchor="ctr"/>
          <a:lstStyle/>
          <a:p>
            <a:pPr algn="ctr" indent="0" marL="0">
              <a:buNone/>
            </a:pPr>
            <a:r>
              <a:rPr lang="en-US" sz="1300" b="1" dirty="0">
                <a:solidFill>
                  <a:srgbClr val="F5F5F7"/>
                </a:solidFill>
                <a:latin typeface="Calibri" pitchFamily="34" charset="0"/>
                <a:ea typeface="Calibri" pitchFamily="34" charset="-122"/>
                <a:cs typeface="Calibri" pitchFamily="34" charset="-120"/>
              </a:rPr>
              <a:t>Job Description</a:t>
            </a:r>
            <a:endParaRPr lang="en-US" sz="1300" dirty="0"/>
          </a:p>
        </p:txBody>
      </p:sp>
      <p:sp>
        <p:nvSpPr>
          <p:cNvPr id="8" name="Text 6"/>
          <p:cNvSpPr txBox="1"/>
          <p:nvPr/>
        </p:nvSpPr>
        <p:spPr>
          <a:xfrm>
            <a:off x="768096" y="3886200"/>
            <a:ext cx="1389888" cy="1280160"/>
          </a:xfrm>
          <a:prstGeom prst="rect">
            <a:avLst/>
          </a:prstGeom>
          <a:noFill/>
          <a:ln/>
        </p:spPr>
        <p:txBody>
          <a:bodyPr wrap="square" lIns="0" tIns="0" rIns="0" bIns="0" rtlCol="0" anchor="ctr"/>
          <a:lstStyle/>
          <a:p>
            <a:pPr algn="ctr" indent="0" marL="0">
              <a:buNone/>
            </a:pPr>
            <a:r>
              <a:rPr lang="en-US" sz="950" dirty="0">
                <a:solidFill>
                  <a:srgbClr val="9A9AA2"/>
                </a:solidFill>
                <a:latin typeface="Calibri" pitchFamily="34" charset="0"/>
                <a:ea typeface="Calibri" pitchFamily="34" charset="-122"/>
                <a:cs typeface="Calibri" pitchFamily="34" charset="-120"/>
              </a:rPr>
              <a:t>Upload JD, tune skills &amp; criteria</a:t>
            </a:r>
            <a:endParaRPr lang="en-US" sz="950" dirty="0"/>
          </a:p>
        </p:txBody>
      </p:sp>
      <p:sp>
        <p:nvSpPr>
          <p:cNvPr id="9" name="Text 7"/>
          <p:cNvSpPr txBox="1"/>
          <p:nvPr/>
        </p:nvSpPr>
        <p:spPr>
          <a:xfrm>
            <a:off x="2267712" y="2514600"/>
            <a:ext cx="475488" cy="548640"/>
          </a:xfrm>
          <a:prstGeom prst="rect">
            <a:avLst/>
          </a:prstGeom>
          <a:noFill/>
          <a:ln/>
        </p:spPr>
        <p:txBody>
          <a:bodyPr wrap="square" lIns="0" tIns="0" rIns="0" bIns="0" rtlCol="0" anchor="ctr"/>
          <a:lstStyle/>
          <a:p>
            <a:pPr algn="ctr" indent="0" marL="0">
              <a:buNone/>
            </a:pPr>
            <a:r>
              <a:rPr lang="en-US" sz="1600" b="1" dirty="0">
                <a:solidFill>
                  <a:srgbClr val="3A3A8C"/>
                </a:solidFill>
                <a:latin typeface="Calibri" pitchFamily="34" charset="0"/>
                <a:ea typeface="Calibri" pitchFamily="34" charset="-122"/>
                <a:cs typeface="Calibri" pitchFamily="34" charset="-120"/>
              </a:rPr>
              <a:t>→</a:t>
            </a:r>
            <a:endParaRPr lang="en-US" sz="1600" dirty="0"/>
          </a:p>
        </p:txBody>
      </p:sp>
      <p:sp>
        <p:nvSpPr>
          <p:cNvPr id="10" name="Shape 8"/>
          <p:cNvSpPr/>
          <p:nvPr/>
        </p:nvSpPr>
        <p:spPr>
          <a:xfrm>
            <a:off x="2487168" y="2331720"/>
            <a:ext cx="1645920" cy="3017520"/>
          </a:xfrm>
          <a:prstGeom prst="roundRect">
            <a:avLst>
              <a:gd name="adj" fmla="val 6667"/>
            </a:avLst>
          </a:prstGeom>
          <a:solidFill>
            <a:srgbClr val="1F1F24"/>
          </a:solidFill>
          <a:ln/>
          <a:effectLst>
            <a:outerShdw sx="100000" sy="100000" kx="0" ky="0" algn="bl" rotWithShape="0" blurRad="101600" dist="38100" dir="5400000">
              <a:srgbClr val="000000">
                <a:alpha val="35000"/>
              </a:srgbClr>
            </a:outerShdw>
          </a:effectLst>
        </p:spPr>
      </p:sp>
      <p:sp>
        <p:nvSpPr>
          <p:cNvPr id="11" name="Shape 9"/>
          <p:cNvSpPr/>
          <p:nvPr/>
        </p:nvSpPr>
        <p:spPr>
          <a:xfrm>
            <a:off x="3058668" y="2587752"/>
            <a:ext cx="502920" cy="502920"/>
          </a:xfrm>
          <a:prstGeom prst="ellipse">
            <a:avLst/>
          </a:prstGeom>
          <a:solidFill>
            <a:srgbClr val="5E5CE6"/>
          </a:solidFill>
          <a:ln/>
        </p:spPr>
      </p:sp>
      <p:sp>
        <p:nvSpPr>
          <p:cNvPr id="12" name="Text 10"/>
          <p:cNvSpPr txBox="1"/>
          <p:nvPr/>
        </p:nvSpPr>
        <p:spPr>
          <a:xfrm>
            <a:off x="3058668" y="2569464"/>
            <a:ext cx="502920" cy="502920"/>
          </a:xfrm>
          <a:prstGeom prst="rect">
            <a:avLst/>
          </a:prstGeom>
          <a:noFill/>
          <a:ln/>
        </p:spPr>
        <p:txBody>
          <a:bodyPr wrap="square" lIns="0" tIns="0" rIns="0" bIns="0" rtlCol="0" anchor="ctr"/>
          <a:lstStyle/>
          <a:p>
            <a:pPr algn="ctr" indent="0" marL="0">
              <a:buNone/>
            </a:pPr>
            <a:r>
              <a:rPr lang="en-US" sz="1800" b="1" dirty="0">
                <a:solidFill>
                  <a:srgbClr val="F5F5F7"/>
                </a:solidFill>
                <a:latin typeface="Calibri" pitchFamily="34" charset="0"/>
                <a:ea typeface="Calibri" pitchFamily="34" charset="-122"/>
                <a:cs typeface="Calibri" pitchFamily="34" charset="-120"/>
              </a:rPr>
              <a:t>2</a:t>
            </a:r>
            <a:endParaRPr lang="en-US" sz="1800" dirty="0"/>
          </a:p>
        </p:txBody>
      </p:sp>
      <p:sp>
        <p:nvSpPr>
          <p:cNvPr id="13" name="Text 11"/>
          <p:cNvSpPr txBox="1"/>
          <p:nvPr/>
        </p:nvSpPr>
        <p:spPr>
          <a:xfrm>
            <a:off x="2596896" y="3291840"/>
            <a:ext cx="1426464" cy="640080"/>
          </a:xfrm>
          <a:prstGeom prst="rect">
            <a:avLst/>
          </a:prstGeom>
          <a:noFill/>
          <a:ln/>
        </p:spPr>
        <p:txBody>
          <a:bodyPr wrap="square" lIns="0" tIns="0" rIns="0" bIns="0" rtlCol="0" anchor="ctr"/>
          <a:lstStyle/>
          <a:p>
            <a:pPr algn="ctr" indent="0" marL="0">
              <a:buNone/>
            </a:pPr>
            <a:r>
              <a:rPr lang="en-US" sz="1300" b="1" dirty="0">
                <a:solidFill>
                  <a:srgbClr val="F5F5F7"/>
                </a:solidFill>
                <a:latin typeface="Calibri" pitchFamily="34" charset="0"/>
                <a:ea typeface="Calibri" pitchFamily="34" charset="-122"/>
                <a:cs typeface="Calibri" pitchFamily="34" charset="-120"/>
              </a:rPr>
              <a:t>Resumes</a:t>
            </a:r>
            <a:endParaRPr lang="en-US" sz="1300" dirty="0"/>
          </a:p>
        </p:txBody>
      </p:sp>
      <p:sp>
        <p:nvSpPr>
          <p:cNvPr id="14" name="Text 12"/>
          <p:cNvSpPr txBox="1"/>
          <p:nvPr/>
        </p:nvSpPr>
        <p:spPr>
          <a:xfrm>
            <a:off x="2615184" y="3886200"/>
            <a:ext cx="1389888" cy="1280160"/>
          </a:xfrm>
          <a:prstGeom prst="rect">
            <a:avLst/>
          </a:prstGeom>
          <a:noFill/>
          <a:ln/>
        </p:spPr>
        <p:txBody>
          <a:bodyPr wrap="square" lIns="0" tIns="0" rIns="0" bIns="0" rtlCol="0" anchor="ctr"/>
          <a:lstStyle/>
          <a:p>
            <a:pPr algn="ctr" indent="0" marL="0">
              <a:buNone/>
            </a:pPr>
            <a:r>
              <a:rPr lang="en-US" sz="950" dirty="0">
                <a:solidFill>
                  <a:srgbClr val="9A9AA2"/>
                </a:solidFill>
                <a:latin typeface="Calibri" pitchFamily="34" charset="0"/>
                <a:ea typeface="Calibri" pitchFamily="34" charset="-122"/>
                <a:cs typeface="Calibri" pitchFamily="34" charset="-120"/>
              </a:rPr>
              <a:t>Batch upload, 200+ supported</a:t>
            </a:r>
            <a:endParaRPr lang="en-US" sz="950" dirty="0"/>
          </a:p>
        </p:txBody>
      </p:sp>
      <p:sp>
        <p:nvSpPr>
          <p:cNvPr id="15" name="Text 13"/>
          <p:cNvSpPr txBox="1"/>
          <p:nvPr/>
        </p:nvSpPr>
        <p:spPr>
          <a:xfrm>
            <a:off x="4114800" y="2514600"/>
            <a:ext cx="475488" cy="548640"/>
          </a:xfrm>
          <a:prstGeom prst="rect">
            <a:avLst/>
          </a:prstGeom>
          <a:noFill/>
          <a:ln/>
        </p:spPr>
        <p:txBody>
          <a:bodyPr wrap="square" lIns="0" tIns="0" rIns="0" bIns="0" rtlCol="0" anchor="ctr"/>
          <a:lstStyle/>
          <a:p>
            <a:pPr algn="ctr" indent="0" marL="0">
              <a:buNone/>
            </a:pPr>
            <a:r>
              <a:rPr lang="en-US" sz="1600" b="1" dirty="0">
                <a:solidFill>
                  <a:srgbClr val="3A3A8C"/>
                </a:solidFill>
                <a:latin typeface="Calibri" pitchFamily="34" charset="0"/>
                <a:ea typeface="Calibri" pitchFamily="34" charset="-122"/>
                <a:cs typeface="Calibri" pitchFamily="34" charset="-120"/>
              </a:rPr>
              <a:t>→</a:t>
            </a:r>
            <a:endParaRPr lang="en-US" sz="1600" dirty="0"/>
          </a:p>
        </p:txBody>
      </p:sp>
      <p:sp>
        <p:nvSpPr>
          <p:cNvPr id="16" name="Shape 14"/>
          <p:cNvSpPr/>
          <p:nvPr/>
        </p:nvSpPr>
        <p:spPr>
          <a:xfrm>
            <a:off x="4334256" y="2331720"/>
            <a:ext cx="1645920" cy="3017520"/>
          </a:xfrm>
          <a:prstGeom prst="roundRect">
            <a:avLst>
              <a:gd name="adj" fmla="val 6667"/>
            </a:avLst>
          </a:prstGeom>
          <a:solidFill>
            <a:srgbClr val="17171B"/>
          </a:solidFill>
          <a:ln/>
          <a:effectLst>
            <a:outerShdw sx="100000" sy="100000" kx="0" ky="0" algn="bl" rotWithShape="0" blurRad="101600" dist="38100" dir="5400000">
              <a:srgbClr val="000000">
                <a:alpha val="35000"/>
              </a:srgbClr>
            </a:outerShdw>
          </a:effectLst>
        </p:spPr>
      </p:sp>
      <p:sp>
        <p:nvSpPr>
          <p:cNvPr id="17" name="Shape 15"/>
          <p:cNvSpPr/>
          <p:nvPr/>
        </p:nvSpPr>
        <p:spPr>
          <a:xfrm>
            <a:off x="4905756" y="2587752"/>
            <a:ext cx="502920" cy="502920"/>
          </a:xfrm>
          <a:prstGeom prst="ellipse">
            <a:avLst/>
          </a:prstGeom>
          <a:solidFill>
            <a:srgbClr val="5E5CE6"/>
          </a:solidFill>
          <a:ln/>
        </p:spPr>
      </p:sp>
      <p:sp>
        <p:nvSpPr>
          <p:cNvPr id="18" name="Text 16"/>
          <p:cNvSpPr txBox="1"/>
          <p:nvPr/>
        </p:nvSpPr>
        <p:spPr>
          <a:xfrm>
            <a:off x="4905756" y="2569464"/>
            <a:ext cx="502920" cy="502920"/>
          </a:xfrm>
          <a:prstGeom prst="rect">
            <a:avLst/>
          </a:prstGeom>
          <a:noFill/>
          <a:ln/>
        </p:spPr>
        <p:txBody>
          <a:bodyPr wrap="square" lIns="0" tIns="0" rIns="0" bIns="0" rtlCol="0" anchor="ctr"/>
          <a:lstStyle/>
          <a:p>
            <a:pPr algn="ctr" indent="0" marL="0">
              <a:buNone/>
            </a:pPr>
            <a:r>
              <a:rPr lang="en-US" sz="1800" b="1" dirty="0">
                <a:solidFill>
                  <a:srgbClr val="F5F5F7"/>
                </a:solidFill>
                <a:latin typeface="Calibri" pitchFamily="34" charset="0"/>
                <a:ea typeface="Calibri" pitchFamily="34" charset="-122"/>
                <a:cs typeface="Calibri" pitchFamily="34" charset="-120"/>
              </a:rPr>
              <a:t>3</a:t>
            </a:r>
            <a:endParaRPr lang="en-US" sz="1800" dirty="0"/>
          </a:p>
        </p:txBody>
      </p:sp>
      <p:sp>
        <p:nvSpPr>
          <p:cNvPr id="19" name="Text 17"/>
          <p:cNvSpPr txBox="1"/>
          <p:nvPr/>
        </p:nvSpPr>
        <p:spPr>
          <a:xfrm>
            <a:off x="4443984" y="3291840"/>
            <a:ext cx="1426464" cy="640080"/>
          </a:xfrm>
          <a:prstGeom prst="rect">
            <a:avLst/>
          </a:prstGeom>
          <a:noFill/>
          <a:ln/>
        </p:spPr>
        <p:txBody>
          <a:bodyPr wrap="square" lIns="0" tIns="0" rIns="0" bIns="0" rtlCol="0" anchor="ctr"/>
          <a:lstStyle/>
          <a:p>
            <a:pPr algn="ctr" indent="0" marL="0">
              <a:buNone/>
            </a:pPr>
            <a:r>
              <a:rPr lang="en-US" sz="1300" b="1" dirty="0">
                <a:solidFill>
                  <a:srgbClr val="F5F5F7"/>
                </a:solidFill>
                <a:latin typeface="Calibri" pitchFamily="34" charset="0"/>
                <a:ea typeface="Calibri" pitchFamily="34" charset="-122"/>
                <a:cs typeface="Calibri" pitchFamily="34" charset="-120"/>
              </a:rPr>
              <a:t>Analytics</a:t>
            </a:r>
            <a:endParaRPr lang="en-US" sz="1300" dirty="0"/>
          </a:p>
        </p:txBody>
      </p:sp>
      <p:sp>
        <p:nvSpPr>
          <p:cNvPr id="20" name="Text 18"/>
          <p:cNvSpPr txBox="1"/>
          <p:nvPr/>
        </p:nvSpPr>
        <p:spPr>
          <a:xfrm>
            <a:off x="4462272" y="3886200"/>
            <a:ext cx="1389888" cy="1280160"/>
          </a:xfrm>
          <a:prstGeom prst="rect">
            <a:avLst/>
          </a:prstGeom>
          <a:noFill/>
          <a:ln/>
        </p:spPr>
        <p:txBody>
          <a:bodyPr wrap="square" lIns="0" tIns="0" rIns="0" bIns="0" rtlCol="0" anchor="ctr"/>
          <a:lstStyle/>
          <a:p>
            <a:pPr algn="ctr" indent="0" marL="0">
              <a:buNone/>
            </a:pPr>
            <a:r>
              <a:rPr lang="en-US" sz="950" dirty="0">
                <a:solidFill>
                  <a:srgbClr val="9A9AA2"/>
                </a:solidFill>
                <a:latin typeface="Calibri" pitchFamily="34" charset="0"/>
                <a:ea typeface="Calibri" pitchFamily="34" charset="-122"/>
                <a:cs typeface="Calibri" pitchFamily="34" charset="-120"/>
              </a:rPr>
              <a:t>Pool-level score &amp; skill insights</a:t>
            </a:r>
            <a:endParaRPr lang="en-US" sz="950" dirty="0"/>
          </a:p>
        </p:txBody>
      </p:sp>
      <p:sp>
        <p:nvSpPr>
          <p:cNvPr id="21" name="Text 19"/>
          <p:cNvSpPr txBox="1"/>
          <p:nvPr/>
        </p:nvSpPr>
        <p:spPr>
          <a:xfrm>
            <a:off x="5961888" y="2514600"/>
            <a:ext cx="475488" cy="548640"/>
          </a:xfrm>
          <a:prstGeom prst="rect">
            <a:avLst/>
          </a:prstGeom>
          <a:noFill/>
          <a:ln/>
        </p:spPr>
        <p:txBody>
          <a:bodyPr wrap="square" lIns="0" tIns="0" rIns="0" bIns="0" rtlCol="0" anchor="ctr"/>
          <a:lstStyle/>
          <a:p>
            <a:pPr algn="ctr" indent="0" marL="0">
              <a:buNone/>
            </a:pPr>
            <a:r>
              <a:rPr lang="en-US" sz="1600" b="1" dirty="0">
                <a:solidFill>
                  <a:srgbClr val="3A3A8C"/>
                </a:solidFill>
                <a:latin typeface="Calibri" pitchFamily="34" charset="0"/>
                <a:ea typeface="Calibri" pitchFamily="34" charset="-122"/>
                <a:cs typeface="Calibri" pitchFamily="34" charset="-120"/>
              </a:rPr>
              <a:t>→</a:t>
            </a:r>
            <a:endParaRPr lang="en-US" sz="1600" dirty="0"/>
          </a:p>
        </p:txBody>
      </p:sp>
      <p:sp>
        <p:nvSpPr>
          <p:cNvPr id="22" name="Shape 20"/>
          <p:cNvSpPr/>
          <p:nvPr/>
        </p:nvSpPr>
        <p:spPr>
          <a:xfrm>
            <a:off x="6181344" y="2331720"/>
            <a:ext cx="1645920" cy="3017520"/>
          </a:xfrm>
          <a:prstGeom prst="roundRect">
            <a:avLst>
              <a:gd name="adj" fmla="val 6667"/>
            </a:avLst>
          </a:prstGeom>
          <a:solidFill>
            <a:srgbClr val="1F1F24"/>
          </a:solidFill>
          <a:ln/>
          <a:effectLst>
            <a:outerShdw sx="100000" sy="100000" kx="0" ky="0" algn="bl" rotWithShape="0" blurRad="101600" dist="38100" dir="5400000">
              <a:srgbClr val="000000">
                <a:alpha val="35000"/>
              </a:srgbClr>
            </a:outerShdw>
          </a:effectLst>
        </p:spPr>
      </p:sp>
      <p:sp>
        <p:nvSpPr>
          <p:cNvPr id="23" name="Shape 21"/>
          <p:cNvSpPr/>
          <p:nvPr/>
        </p:nvSpPr>
        <p:spPr>
          <a:xfrm>
            <a:off x="6752844" y="2587752"/>
            <a:ext cx="502920" cy="502920"/>
          </a:xfrm>
          <a:prstGeom prst="ellipse">
            <a:avLst/>
          </a:prstGeom>
          <a:solidFill>
            <a:srgbClr val="5E5CE6"/>
          </a:solidFill>
          <a:ln/>
        </p:spPr>
      </p:sp>
      <p:sp>
        <p:nvSpPr>
          <p:cNvPr id="24" name="Text 22"/>
          <p:cNvSpPr txBox="1"/>
          <p:nvPr/>
        </p:nvSpPr>
        <p:spPr>
          <a:xfrm>
            <a:off x="6752844" y="2569464"/>
            <a:ext cx="502920" cy="502920"/>
          </a:xfrm>
          <a:prstGeom prst="rect">
            <a:avLst/>
          </a:prstGeom>
          <a:noFill/>
          <a:ln/>
        </p:spPr>
        <p:txBody>
          <a:bodyPr wrap="square" lIns="0" tIns="0" rIns="0" bIns="0" rtlCol="0" anchor="ctr"/>
          <a:lstStyle/>
          <a:p>
            <a:pPr algn="ctr" indent="0" marL="0">
              <a:buNone/>
            </a:pPr>
            <a:r>
              <a:rPr lang="en-US" sz="1800" b="1" dirty="0">
                <a:solidFill>
                  <a:srgbClr val="F5F5F7"/>
                </a:solidFill>
                <a:latin typeface="Calibri" pitchFamily="34" charset="0"/>
                <a:ea typeface="Calibri" pitchFamily="34" charset="-122"/>
                <a:cs typeface="Calibri" pitchFamily="34" charset="-120"/>
              </a:rPr>
              <a:t>4</a:t>
            </a:r>
            <a:endParaRPr lang="en-US" sz="1800" dirty="0"/>
          </a:p>
        </p:txBody>
      </p:sp>
      <p:sp>
        <p:nvSpPr>
          <p:cNvPr id="25" name="Text 23"/>
          <p:cNvSpPr txBox="1"/>
          <p:nvPr/>
        </p:nvSpPr>
        <p:spPr>
          <a:xfrm>
            <a:off x="6291072" y="3291840"/>
            <a:ext cx="1426464" cy="640080"/>
          </a:xfrm>
          <a:prstGeom prst="rect">
            <a:avLst/>
          </a:prstGeom>
          <a:noFill/>
          <a:ln/>
        </p:spPr>
        <p:txBody>
          <a:bodyPr wrap="square" lIns="0" tIns="0" rIns="0" bIns="0" rtlCol="0" anchor="ctr"/>
          <a:lstStyle/>
          <a:p>
            <a:pPr algn="ctr" indent="0" marL="0">
              <a:buNone/>
            </a:pPr>
            <a:r>
              <a:rPr lang="en-US" sz="1300" b="1" dirty="0">
                <a:solidFill>
                  <a:srgbClr val="F5F5F7"/>
                </a:solidFill>
                <a:latin typeface="Calibri" pitchFamily="34" charset="0"/>
                <a:ea typeface="Calibri" pitchFamily="34" charset="-122"/>
                <a:cs typeface="Calibri" pitchFamily="34" charset="-120"/>
              </a:rPr>
              <a:t>Shortlist</a:t>
            </a:r>
            <a:endParaRPr lang="en-US" sz="1300" dirty="0"/>
          </a:p>
        </p:txBody>
      </p:sp>
      <p:sp>
        <p:nvSpPr>
          <p:cNvPr id="26" name="Text 24"/>
          <p:cNvSpPr txBox="1"/>
          <p:nvPr/>
        </p:nvSpPr>
        <p:spPr>
          <a:xfrm>
            <a:off x="6309360" y="3886200"/>
            <a:ext cx="1389888" cy="1280160"/>
          </a:xfrm>
          <a:prstGeom prst="rect">
            <a:avLst/>
          </a:prstGeom>
          <a:noFill/>
          <a:ln/>
        </p:spPr>
        <p:txBody>
          <a:bodyPr wrap="square" lIns="0" tIns="0" rIns="0" bIns="0" rtlCol="0" anchor="ctr"/>
          <a:lstStyle/>
          <a:p>
            <a:pPr algn="ctr" indent="0" marL="0">
              <a:buNone/>
            </a:pPr>
            <a:r>
              <a:rPr lang="en-US" sz="950" dirty="0">
                <a:solidFill>
                  <a:srgbClr val="9A9AA2"/>
                </a:solidFill>
                <a:latin typeface="Calibri" pitchFamily="34" charset="0"/>
                <a:ea typeface="Calibri" pitchFamily="34" charset="-122"/>
                <a:cs typeface="Calibri" pitchFamily="34" charset="-120"/>
              </a:rPr>
              <a:t>Paginated ranked list + chatbot</a:t>
            </a:r>
            <a:endParaRPr lang="en-US" sz="950" dirty="0"/>
          </a:p>
        </p:txBody>
      </p:sp>
      <p:sp>
        <p:nvSpPr>
          <p:cNvPr id="27" name="Text 25"/>
          <p:cNvSpPr txBox="1"/>
          <p:nvPr/>
        </p:nvSpPr>
        <p:spPr>
          <a:xfrm>
            <a:off x="7808976" y="2514600"/>
            <a:ext cx="475488" cy="548640"/>
          </a:xfrm>
          <a:prstGeom prst="rect">
            <a:avLst/>
          </a:prstGeom>
          <a:noFill/>
          <a:ln/>
        </p:spPr>
        <p:txBody>
          <a:bodyPr wrap="square" lIns="0" tIns="0" rIns="0" bIns="0" rtlCol="0" anchor="ctr"/>
          <a:lstStyle/>
          <a:p>
            <a:pPr algn="ctr" indent="0" marL="0">
              <a:buNone/>
            </a:pPr>
            <a:r>
              <a:rPr lang="en-US" sz="1600" b="1" dirty="0">
                <a:solidFill>
                  <a:srgbClr val="3A3A8C"/>
                </a:solidFill>
                <a:latin typeface="Calibri" pitchFamily="34" charset="0"/>
                <a:ea typeface="Calibri" pitchFamily="34" charset="-122"/>
                <a:cs typeface="Calibri" pitchFamily="34" charset="-120"/>
              </a:rPr>
              <a:t>→</a:t>
            </a:r>
            <a:endParaRPr lang="en-US" sz="1600" dirty="0"/>
          </a:p>
        </p:txBody>
      </p:sp>
      <p:sp>
        <p:nvSpPr>
          <p:cNvPr id="28" name="Shape 26"/>
          <p:cNvSpPr/>
          <p:nvPr/>
        </p:nvSpPr>
        <p:spPr>
          <a:xfrm>
            <a:off x="8028432" y="2331720"/>
            <a:ext cx="1645920" cy="3017520"/>
          </a:xfrm>
          <a:prstGeom prst="roundRect">
            <a:avLst>
              <a:gd name="adj" fmla="val 6667"/>
            </a:avLst>
          </a:prstGeom>
          <a:solidFill>
            <a:srgbClr val="17171B"/>
          </a:solidFill>
          <a:ln/>
          <a:effectLst>
            <a:outerShdw sx="100000" sy="100000" kx="0" ky="0" algn="bl" rotWithShape="0" blurRad="101600" dist="38100" dir="5400000">
              <a:srgbClr val="000000">
                <a:alpha val="35000"/>
              </a:srgbClr>
            </a:outerShdw>
          </a:effectLst>
        </p:spPr>
      </p:sp>
      <p:sp>
        <p:nvSpPr>
          <p:cNvPr id="29" name="Shape 27"/>
          <p:cNvSpPr/>
          <p:nvPr/>
        </p:nvSpPr>
        <p:spPr>
          <a:xfrm>
            <a:off x="8599932" y="2587752"/>
            <a:ext cx="502920" cy="502920"/>
          </a:xfrm>
          <a:prstGeom prst="ellipse">
            <a:avLst/>
          </a:prstGeom>
          <a:solidFill>
            <a:srgbClr val="5E5CE6"/>
          </a:solidFill>
          <a:ln/>
        </p:spPr>
      </p:sp>
      <p:sp>
        <p:nvSpPr>
          <p:cNvPr id="30" name="Text 28"/>
          <p:cNvSpPr txBox="1"/>
          <p:nvPr/>
        </p:nvSpPr>
        <p:spPr>
          <a:xfrm>
            <a:off x="8599932" y="2569464"/>
            <a:ext cx="502920" cy="502920"/>
          </a:xfrm>
          <a:prstGeom prst="rect">
            <a:avLst/>
          </a:prstGeom>
          <a:noFill/>
          <a:ln/>
        </p:spPr>
        <p:txBody>
          <a:bodyPr wrap="square" lIns="0" tIns="0" rIns="0" bIns="0" rtlCol="0" anchor="ctr"/>
          <a:lstStyle/>
          <a:p>
            <a:pPr algn="ctr" indent="0" marL="0">
              <a:buNone/>
            </a:pPr>
            <a:r>
              <a:rPr lang="en-US" sz="1800" b="1" dirty="0">
                <a:solidFill>
                  <a:srgbClr val="F5F5F7"/>
                </a:solidFill>
                <a:latin typeface="Calibri" pitchFamily="34" charset="0"/>
                <a:ea typeface="Calibri" pitchFamily="34" charset="-122"/>
                <a:cs typeface="Calibri" pitchFamily="34" charset="-120"/>
              </a:rPr>
              <a:t>5</a:t>
            </a:r>
            <a:endParaRPr lang="en-US" sz="1800" dirty="0"/>
          </a:p>
        </p:txBody>
      </p:sp>
      <p:sp>
        <p:nvSpPr>
          <p:cNvPr id="31" name="Text 29"/>
          <p:cNvSpPr txBox="1"/>
          <p:nvPr/>
        </p:nvSpPr>
        <p:spPr>
          <a:xfrm>
            <a:off x="8138160" y="3291840"/>
            <a:ext cx="1426464" cy="640080"/>
          </a:xfrm>
          <a:prstGeom prst="rect">
            <a:avLst/>
          </a:prstGeom>
          <a:noFill/>
          <a:ln/>
        </p:spPr>
        <p:txBody>
          <a:bodyPr wrap="square" lIns="0" tIns="0" rIns="0" bIns="0" rtlCol="0" anchor="ctr"/>
          <a:lstStyle/>
          <a:p>
            <a:pPr algn="ctr" indent="0" marL="0">
              <a:buNone/>
            </a:pPr>
            <a:r>
              <a:rPr lang="en-US" sz="1300" b="1" dirty="0">
                <a:solidFill>
                  <a:srgbClr val="F5F5F7"/>
                </a:solidFill>
                <a:latin typeface="Calibri" pitchFamily="34" charset="0"/>
                <a:ea typeface="Calibri" pitchFamily="34" charset="-122"/>
                <a:cs typeface="Calibri" pitchFamily="34" charset="-120"/>
              </a:rPr>
              <a:t>Tracker</a:t>
            </a:r>
            <a:endParaRPr lang="en-US" sz="1300" dirty="0"/>
          </a:p>
        </p:txBody>
      </p:sp>
      <p:sp>
        <p:nvSpPr>
          <p:cNvPr id="32" name="Text 30"/>
          <p:cNvSpPr txBox="1"/>
          <p:nvPr/>
        </p:nvSpPr>
        <p:spPr>
          <a:xfrm>
            <a:off x="8156448" y="3886200"/>
            <a:ext cx="1389888" cy="1280160"/>
          </a:xfrm>
          <a:prstGeom prst="rect">
            <a:avLst/>
          </a:prstGeom>
          <a:noFill/>
          <a:ln/>
        </p:spPr>
        <p:txBody>
          <a:bodyPr wrap="square" lIns="0" tIns="0" rIns="0" bIns="0" rtlCol="0" anchor="ctr"/>
          <a:lstStyle/>
          <a:p>
            <a:pPr algn="ctr" indent="0" marL="0">
              <a:buNone/>
            </a:pPr>
            <a:r>
              <a:rPr lang="en-US" sz="950" dirty="0">
                <a:solidFill>
                  <a:srgbClr val="9A9AA2"/>
                </a:solidFill>
                <a:latin typeface="Calibri" pitchFamily="34" charset="0"/>
                <a:ea typeface="Calibri" pitchFamily="34" charset="-122"/>
                <a:cs typeface="Calibri" pitchFamily="34" charset="-120"/>
              </a:rPr>
              <a:t>Application stages + Calendar/Meet</a:t>
            </a:r>
            <a:endParaRPr lang="en-US" sz="950" dirty="0"/>
          </a:p>
        </p:txBody>
      </p:sp>
      <p:sp>
        <p:nvSpPr>
          <p:cNvPr id="33" name="Text 31"/>
          <p:cNvSpPr txBox="1"/>
          <p:nvPr/>
        </p:nvSpPr>
        <p:spPr>
          <a:xfrm>
            <a:off x="9656064" y="2514600"/>
            <a:ext cx="475488" cy="548640"/>
          </a:xfrm>
          <a:prstGeom prst="rect">
            <a:avLst/>
          </a:prstGeom>
          <a:noFill/>
          <a:ln/>
        </p:spPr>
        <p:txBody>
          <a:bodyPr wrap="square" lIns="0" tIns="0" rIns="0" bIns="0" rtlCol="0" anchor="ctr"/>
          <a:lstStyle/>
          <a:p>
            <a:pPr algn="ctr" indent="0" marL="0">
              <a:buNone/>
            </a:pPr>
            <a:r>
              <a:rPr lang="en-US" sz="1600" b="1" dirty="0">
                <a:solidFill>
                  <a:srgbClr val="3A3A8C"/>
                </a:solidFill>
                <a:latin typeface="Calibri" pitchFamily="34" charset="0"/>
                <a:ea typeface="Calibri" pitchFamily="34" charset="-122"/>
                <a:cs typeface="Calibri" pitchFamily="34" charset="-120"/>
              </a:rPr>
              <a:t>→</a:t>
            </a:r>
            <a:endParaRPr lang="en-US" sz="1600" dirty="0"/>
          </a:p>
        </p:txBody>
      </p:sp>
      <p:sp>
        <p:nvSpPr>
          <p:cNvPr id="34" name="Shape 32"/>
          <p:cNvSpPr/>
          <p:nvPr/>
        </p:nvSpPr>
        <p:spPr>
          <a:xfrm>
            <a:off x="9875520" y="2331720"/>
            <a:ext cx="1645920" cy="3017520"/>
          </a:xfrm>
          <a:prstGeom prst="roundRect">
            <a:avLst>
              <a:gd name="adj" fmla="val 6667"/>
            </a:avLst>
          </a:prstGeom>
          <a:solidFill>
            <a:srgbClr val="1F1F24"/>
          </a:solidFill>
          <a:ln/>
          <a:effectLst>
            <a:outerShdw sx="100000" sy="100000" kx="0" ky="0" algn="bl" rotWithShape="0" blurRad="101600" dist="38100" dir="5400000">
              <a:srgbClr val="000000">
                <a:alpha val="35000"/>
              </a:srgbClr>
            </a:outerShdw>
          </a:effectLst>
        </p:spPr>
      </p:sp>
      <p:sp>
        <p:nvSpPr>
          <p:cNvPr id="35" name="Shape 33"/>
          <p:cNvSpPr/>
          <p:nvPr/>
        </p:nvSpPr>
        <p:spPr>
          <a:xfrm>
            <a:off x="10447020" y="2587752"/>
            <a:ext cx="502920" cy="502920"/>
          </a:xfrm>
          <a:prstGeom prst="ellipse">
            <a:avLst/>
          </a:prstGeom>
          <a:solidFill>
            <a:srgbClr val="5E5CE6"/>
          </a:solidFill>
          <a:ln/>
        </p:spPr>
      </p:sp>
      <p:sp>
        <p:nvSpPr>
          <p:cNvPr id="36" name="Text 34"/>
          <p:cNvSpPr txBox="1"/>
          <p:nvPr/>
        </p:nvSpPr>
        <p:spPr>
          <a:xfrm>
            <a:off x="10447020" y="2569464"/>
            <a:ext cx="502920" cy="502920"/>
          </a:xfrm>
          <a:prstGeom prst="rect">
            <a:avLst/>
          </a:prstGeom>
          <a:noFill/>
          <a:ln/>
        </p:spPr>
        <p:txBody>
          <a:bodyPr wrap="square" lIns="0" tIns="0" rIns="0" bIns="0" rtlCol="0" anchor="ctr"/>
          <a:lstStyle/>
          <a:p>
            <a:pPr algn="ctr" indent="0" marL="0">
              <a:buNone/>
            </a:pPr>
            <a:r>
              <a:rPr lang="en-US" sz="1800" b="1" dirty="0">
                <a:solidFill>
                  <a:srgbClr val="F5F5F7"/>
                </a:solidFill>
                <a:latin typeface="Calibri" pitchFamily="34" charset="0"/>
                <a:ea typeface="Calibri" pitchFamily="34" charset="-122"/>
                <a:cs typeface="Calibri" pitchFamily="34" charset="-120"/>
              </a:rPr>
              <a:t>6</a:t>
            </a:r>
            <a:endParaRPr lang="en-US" sz="1800" dirty="0"/>
          </a:p>
        </p:txBody>
      </p:sp>
      <p:sp>
        <p:nvSpPr>
          <p:cNvPr id="37" name="Text 35"/>
          <p:cNvSpPr txBox="1"/>
          <p:nvPr/>
        </p:nvSpPr>
        <p:spPr>
          <a:xfrm>
            <a:off x="9985248" y="3291840"/>
            <a:ext cx="1426464" cy="640080"/>
          </a:xfrm>
          <a:prstGeom prst="rect">
            <a:avLst/>
          </a:prstGeom>
          <a:noFill/>
          <a:ln/>
        </p:spPr>
        <p:txBody>
          <a:bodyPr wrap="square" lIns="0" tIns="0" rIns="0" bIns="0" rtlCol="0" anchor="ctr"/>
          <a:lstStyle/>
          <a:p>
            <a:pPr algn="ctr" indent="0" marL="0">
              <a:buNone/>
            </a:pPr>
            <a:r>
              <a:rPr lang="en-US" sz="1300" b="1" dirty="0">
                <a:solidFill>
                  <a:srgbClr val="F5F5F7"/>
                </a:solidFill>
                <a:latin typeface="Calibri" pitchFamily="34" charset="0"/>
                <a:ea typeface="Calibri" pitchFamily="34" charset="-122"/>
                <a:cs typeface="Calibri" pitchFamily="34" charset="-120"/>
              </a:rPr>
              <a:t>Offer</a:t>
            </a:r>
            <a:endParaRPr lang="en-US" sz="1300" dirty="0"/>
          </a:p>
        </p:txBody>
      </p:sp>
      <p:sp>
        <p:nvSpPr>
          <p:cNvPr id="38" name="Text 36"/>
          <p:cNvSpPr txBox="1"/>
          <p:nvPr/>
        </p:nvSpPr>
        <p:spPr>
          <a:xfrm>
            <a:off x="10003536" y="3886200"/>
            <a:ext cx="1389888" cy="1280160"/>
          </a:xfrm>
          <a:prstGeom prst="rect">
            <a:avLst/>
          </a:prstGeom>
          <a:noFill/>
          <a:ln/>
        </p:spPr>
        <p:txBody>
          <a:bodyPr wrap="square" lIns="0" tIns="0" rIns="0" bIns="0" rtlCol="0" anchor="ctr"/>
          <a:lstStyle/>
          <a:p>
            <a:pPr algn="ctr" indent="0" marL="0">
              <a:buNone/>
            </a:pPr>
            <a:r>
              <a:rPr lang="en-US" sz="950" dirty="0">
                <a:solidFill>
                  <a:srgbClr val="9A9AA2"/>
                </a:solidFill>
                <a:latin typeface="Calibri" pitchFamily="34" charset="0"/>
                <a:ea typeface="Calibri" pitchFamily="34" charset="-122"/>
                <a:cs typeface="Calibri" pitchFamily="34" charset="-120"/>
              </a:rPr>
              <a:t>PDF offer letter + email draft</a:t>
            </a:r>
            <a:endParaRPr lang="en-US" sz="950" dirty="0"/>
          </a:p>
        </p:txBody>
      </p:sp>
      <p:sp>
        <p:nvSpPr>
          <p:cNvPr id="39" name="Text 37"/>
          <p:cNvSpPr txBox="1"/>
          <p:nvPr/>
        </p:nvSpPr>
        <p:spPr>
          <a:xfrm>
            <a:off x="457200" y="6473952"/>
            <a:ext cx="7315200" cy="274320"/>
          </a:xfrm>
          <a:prstGeom prst="rect">
            <a:avLst/>
          </a:prstGeom>
          <a:noFill/>
          <a:ln/>
        </p:spPr>
        <p:txBody>
          <a:bodyPr wrap="square" lIns="0" tIns="0" rIns="0" bIns="0" rtlCol="0" anchor="ctr"/>
          <a:lstStyle/>
          <a:p>
            <a:pPr indent="0" marL="0">
              <a:buNone/>
            </a:pPr>
            <a:r>
              <a:rPr lang="en-US" sz="900" dirty="0">
                <a:solidFill>
                  <a:srgbClr val="9A9AA2"/>
                </a:solidFill>
                <a:latin typeface="Calibri" pitchFamily="34" charset="0"/>
                <a:ea typeface="Calibri" pitchFamily="34" charset="-122"/>
                <a:cs typeface="Calibri" pitchFamily="34" charset="-120"/>
              </a:rPr>
              <a:t>Resumeeit — Smart Shortlisting Engine</a:t>
            </a:r>
            <a:endParaRPr lang="en-US" sz="900" dirty="0"/>
          </a:p>
        </p:txBody>
      </p:sp>
      <p:sp>
        <p:nvSpPr>
          <p:cNvPr id="40" name="Text 38"/>
          <p:cNvSpPr txBox="1"/>
          <p:nvPr/>
        </p:nvSpPr>
        <p:spPr>
          <a:xfrm>
            <a:off x="11000232" y="6473952"/>
            <a:ext cx="731520" cy="274320"/>
          </a:xfrm>
          <a:prstGeom prst="rect">
            <a:avLst/>
          </a:prstGeom>
          <a:noFill/>
          <a:ln/>
        </p:spPr>
        <p:txBody>
          <a:bodyPr wrap="square" lIns="0" tIns="0" rIns="0" bIns="0" rtlCol="0" anchor="ctr"/>
          <a:lstStyle/>
          <a:p>
            <a:pPr algn="r" indent="0" marL="0">
              <a:buNone/>
            </a:pPr>
            <a:r>
              <a:rPr lang="en-US" sz="900" dirty="0">
                <a:solidFill>
                  <a:srgbClr val="9A9AA2"/>
                </a:solidFill>
                <a:latin typeface="Calibri" pitchFamily="34" charset="0"/>
                <a:ea typeface="Calibri" pitchFamily="34" charset="-122"/>
                <a:cs typeface="Calibri" pitchFamily="34" charset="-120"/>
              </a:rPr>
              <a:t>06 / 10</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0A0A"/>
        </a:solidFill>
      </p:bgPr>
    </p:bg>
    <p:spTree>
      <p:nvGrpSpPr>
        <p:cNvPr id="1" name=""/>
        <p:cNvGrpSpPr/>
        <p:nvPr/>
      </p:nvGrpSpPr>
      <p:grpSpPr>
        <a:xfrm>
          <a:off x="0" y="0"/>
          <a:ext cx="0" cy="0"/>
          <a:chOff x="0" y="0"/>
          <a:chExt cx="0" cy="0"/>
        </a:xfrm>
      </p:grpSpPr>
      <p:sp>
        <p:nvSpPr>
          <p:cNvPr id="2" name="Text 0"/>
          <p:cNvSpPr txBox="1"/>
          <p:nvPr/>
        </p:nvSpPr>
        <p:spPr>
          <a:xfrm>
            <a:off x="640080" y="502920"/>
            <a:ext cx="7315200" cy="320040"/>
          </a:xfrm>
          <a:prstGeom prst="rect">
            <a:avLst/>
          </a:prstGeom>
          <a:noFill/>
          <a:ln/>
        </p:spPr>
        <p:txBody>
          <a:bodyPr wrap="square" lIns="0" tIns="0" rIns="0" bIns="0" rtlCol="0" anchor="ctr"/>
          <a:lstStyle/>
          <a:p>
            <a:pPr indent="0" marL="0">
              <a:buNone/>
            </a:pPr>
            <a:r>
              <a:rPr lang="en-US" sz="1200" b="1" spc="200" kern="0" dirty="0">
                <a:solidFill>
                  <a:srgbClr val="5E5CE6"/>
                </a:solidFill>
                <a:latin typeface="Calibri" pitchFamily="34" charset="0"/>
                <a:ea typeface="Calibri" pitchFamily="34" charset="-122"/>
                <a:cs typeface="Calibri" pitchFamily="34" charset="-120"/>
              </a:rPr>
              <a:t>BONUS DIRECTIONS</a:t>
            </a:r>
            <a:endParaRPr lang="en-US" sz="1200" dirty="0"/>
          </a:p>
        </p:txBody>
      </p:sp>
      <p:sp>
        <p:nvSpPr>
          <p:cNvPr id="3" name="Text 1"/>
          <p:cNvSpPr txBox="1"/>
          <p:nvPr/>
        </p:nvSpPr>
        <p:spPr>
          <a:xfrm>
            <a:off x="640080" y="822960"/>
            <a:ext cx="10789920" cy="914400"/>
          </a:xfrm>
          <a:prstGeom prst="rect">
            <a:avLst/>
          </a:prstGeom>
          <a:noFill/>
          <a:ln/>
        </p:spPr>
        <p:txBody>
          <a:bodyPr wrap="square" lIns="0" tIns="0" rIns="0" bIns="0" rtlCol="0" anchor="ctr"/>
          <a:lstStyle/>
          <a:p>
            <a:pPr indent="0" marL="0">
              <a:buNone/>
            </a:pPr>
            <a:r>
              <a:rPr lang="en-US" sz="3200" b="1" dirty="0">
                <a:solidFill>
                  <a:srgbClr val="F5F5F7"/>
                </a:solidFill>
                <a:latin typeface="Calibri" pitchFamily="34" charset="0"/>
                <a:ea typeface="Calibri" pitchFamily="34" charset="-122"/>
                <a:cs typeface="Calibri" pitchFamily="34" charset="-120"/>
              </a:rPr>
              <a:t>We didn't stop at the core ask</a:t>
            </a:r>
            <a:endParaRPr lang="en-US" sz="3200" dirty="0"/>
          </a:p>
        </p:txBody>
      </p:sp>
      <p:sp>
        <p:nvSpPr>
          <p:cNvPr id="4" name="Shape 2"/>
          <p:cNvSpPr/>
          <p:nvPr/>
        </p:nvSpPr>
        <p:spPr>
          <a:xfrm>
            <a:off x="640080" y="2377440"/>
            <a:ext cx="5212080" cy="2468880"/>
          </a:xfrm>
          <a:prstGeom prst="roundRect">
            <a:avLst>
              <a:gd name="adj" fmla="val 4444"/>
            </a:avLst>
          </a:prstGeom>
          <a:solidFill>
            <a:srgbClr val="17171B"/>
          </a:solidFill>
          <a:ln/>
          <a:effectLst>
            <a:outerShdw sx="100000" sy="100000" kx="0" ky="0" algn="bl" rotWithShape="0" blurRad="101600" dist="38100" dir="5400000">
              <a:srgbClr val="000000">
                <a:alpha val="35000"/>
              </a:srgbClr>
            </a:outerShdw>
          </a:effectLst>
        </p:spPr>
      </p:sp>
      <p:sp>
        <p:nvSpPr>
          <p:cNvPr id="5" name="Shape 3"/>
          <p:cNvSpPr/>
          <p:nvPr/>
        </p:nvSpPr>
        <p:spPr>
          <a:xfrm>
            <a:off x="960120" y="2697480"/>
            <a:ext cx="621792" cy="621792"/>
          </a:xfrm>
          <a:prstGeom prst="ellipse">
            <a:avLst/>
          </a:prstGeom>
          <a:solidFill>
            <a:srgbClr val="3A3A8C"/>
          </a:solidFill>
          <a:ln/>
        </p:spPr>
      </p:sp>
      <p:sp>
        <p:nvSpPr>
          <p:cNvPr id="6" name="Text 4"/>
          <p:cNvSpPr txBox="1"/>
          <p:nvPr/>
        </p:nvSpPr>
        <p:spPr>
          <a:xfrm>
            <a:off x="960120" y="2679192"/>
            <a:ext cx="621792" cy="621792"/>
          </a:xfrm>
          <a:prstGeom prst="rect">
            <a:avLst/>
          </a:prstGeom>
          <a:noFill/>
          <a:ln/>
        </p:spPr>
        <p:txBody>
          <a:bodyPr wrap="square" lIns="0" tIns="0" rIns="0" bIns="0" rtlCol="0" anchor="ctr"/>
          <a:lstStyle/>
          <a:p>
            <a:pPr algn="ctr" indent="0" marL="0">
              <a:buNone/>
            </a:pPr>
            <a:r>
              <a:rPr lang="en-US" sz="2400" b="1" dirty="0">
                <a:solidFill>
                  <a:srgbClr val="5E5CE6"/>
                </a:solidFill>
                <a:latin typeface="Calibri" pitchFamily="34" charset="0"/>
                <a:ea typeface="Calibri" pitchFamily="34" charset="-122"/>
                <a:cs typeface="Calibri" pitchFamily="34" charset="-120"/>
              </a:rPr>
              <a:t>⚠</a:t>
            </a:r>
            <a:endParaRPr lang="en-US" sz="2400" dirty="0"/>
          </a:p>
        </p:txBody>
      </p:sp>
      <p:sp>
        <p:nvSpPr>
          <p:cNvPr id="7" name="Text 5"/>
          <p:cNvSpPr txBox="1"/>
          <p:nvPr/>
        </p:nvSpPr>
        <p:spPr>
          <a:xfrm>
            <a:off x="960120" y="3474720"/>
            <a:ext cx="4572000" cy="411480"/>
          </a:xfrm>
          <a:prstGeom prst="rect">
            <a:avLst/>
          </a:prstGeom>
          <a:noFill/>
          <a:ln/>
        </p:spPr>
        <p:txBody>
          <a:bodyPr wrap="square" lIns="0" tIns="0" rIns="0" bIns="0" rtlCol="0" anchor="ctr"/>
          <a:lstStyle/>
          <a:p>
            <a:pPr indent="0" marL="0">
              <a:buNone/>
            </a:pPr>
            <a:r>
              <a:rPr lang="en-US" sz="1700" b="1" dirty="0">
                <a:solidFill>
                  <a:srgbClr val="F5F5F7"/>
                </a:solidFill>
                <a:latin typeface="Calibri" pitchFamily="34" charset="0"/>
                <a:ea typeface="Calibri" pitchFamily="34" charset="-122"/>
                <a:cs typeface="Calibri" pitchFamily="34" charset="-120"/>
              </a:rPr>
              <a:t>JD bias detection</a:t>
            </a:r>
            <a:endParaRPr lang="en-US" sz="1700" dirty="0"/>
          </a:p>
        </p:txBody>
      </p:sp>
      <p:sp>
        <p:nvSpPr>
          <p:cNvPr id="8" name="Text 6"/>
          <p:cNvSpPr txBox="1"/>
          <p:nvPr/>
        </p:nvSpPr>
        <p:spPr>
          <a:xfrm>
            <a:off x="960120" y="3931920"/>
            <a:ext cx="4572000" cy="777240"/>
          </a:xfrm>
          <a:prstGeom prst="rect">
            <a:avLst/>
          </a:prstGeom>
          <a:noFill/>
          <a:ln/>
        </p:spPr>
        <p:txBody>
          <a:bodyPr wrap="square" lIns="0" tIns="0" rIns="0" bIns="0" rtlCol="0" anchor="ctr"/>
          <a:lstStyle/>
          <a:p>
            <a:pPr indent="0" marL="0">
              <a:buNone/>
            </a:pPr>
            <a:r>
              <a:rPr lang="en-US" sz="1200" dirty="0">
                <a:solidFill>
                  <a:srgbClr val="9A9AA2"/>
                </a:solidFill>
                <a:latin typeface="Calibri" pitchFamily="34" charset="0"/>
                <a:ea typeface="Calibri" pitchFamily="34" charset="-122"/>
                <a:cs typeface="Calibri" pitchFamily="34" charset="-120"/>
              </a:rPr>
              <a:t>Flags gendered/ageist language, experience-level mismatches, and requirement lists so long almost nobody could satisfy every line.</a:t>
            </a:r>
            <a:endParaRPr lang="en-US" sz="1200" dirty="0"/>
          </a:p>
        </p:txBody>
      </p:sp>
      <p:sp>
        <p:nvSpPr>
          <p:cNvPr id="9" name="Shape 7"/>
          <p:cNvSpPr/>
          <p:nvPr/>
        </p:nvSpPr>
        <p:spPr>
          <a:xfrm>
            <a:off x="6309360" y="2377440"/>
            <a:ext cx="5212080" cy="2468880"/>
          </a:xfrm>
          <a:prstGeom prst="roundRect">
            <a:avLst>
              <a:gd name="adj" fmla="val 4444"/>
            </a:avLst>
          </a:prstGeom>
          <a:solidFill>
            <a:srgbClr val="17171B"/>
          </a:solidFill>
          <a:ln/>
          <a:effectLst>
            <a:outerShdw sx="100000" sy="100000" kx="0" ky="0" algn="bl" rotWithShape="0" blurRad="101600" dist="38100" dir="5400000">
              <a:srgbClr val="000000">
                <a:alpha val="35000"/>
              </a:srgbClr>
            </a:outerShdw>
          </a:effectLst>
        </p:spPr>
      </p:sp>
      <p:sp>
        <p:nvSpPr>
          <p:cNvPr id="10" name="Shape 8"/>
          <p:cNvSpPr/>
          <p:nvPr/>
        </p:nvSpPr>
        <p:spPr>
          <a:xfrm>
            <a:off x="6629400" y="2697480"/>
            <a:ext cx="621792" cy="621792"/>
          </a:xfrm>
          <a:prstGeom prst="ellipse">
            <a:avLst/>
          </a:prstGeom>
          <a:solidFill>
            <a:srgbClr val="3A3A8C"/>
          </a:solidFill>
          <a:ln/>
        </p:spPr>
      </p:sp>
      <p:sp>
        <p:nvSpPr>
          <p:cNvPr id="11" name="Text 9"/>
          <p:cNvSpPr txBox="1"/>
          <p:nvPr/>
        </p:nvSpPr>
        <p:spPr>
          <a:xfrm>
            <a:off x="6629400" y="2679192"/>
            <a:ext cx="621792" cy="621792"/>
          </a:xfrm>
          <a:prstGeom prst="rect">
            <a:avLst/>
          </a:prstGeom>
          <a:noFill/>
          <a:ln/>
        </p:spPr>
        <p:txBody>
          <a:bodyPr wrap="square" lIns="0" tIns="0" rIns="0" bIns="0" rtlCol="0" anchor="ctr"/>
          <a:lstStyle/>
          <a:p>
            <a:pPr algn="ctr" indent="0" marL="0">
              <a:buNone/>
            </a:pPr>
            <a:r>
              <a:rPr lang="en-US" sz="2400" b="1" dirty="0">
                <a:solidFill>
                  <a:srgbClr val="5E5CE6"/>
                </a:solidFill>
                <a:latin typeface="Calibri" pitchFamily="34" charset="0"/>
                <a:ea typeface="Calibri" pitchFamily="34" charset="-122"/>
                <a:cs typeface="Calibri" pitchFamily="34" charset="-120"/>
              </a:rPr>
              <a:t>↻</a:t>
            </a:r>
            <a:endParaRPr lang="en-US" sz="2400" dirty="0"/>
          </a:p>
        </p:txBody>
      </p:sp>
      <p:sp>
        <p:nvSpPr>
          <p:cNvPr id="12" name="Text 10"/>
          <p:cNvSpPr txBox="1"/>
          <p:nvPr/>
        </p:nvSpPr>
        <p:spPr>
          <a:xfrm>
            <a:off x="6629400" y="3474720"/>
            <a:ext cx="4572000" cy="411480"/>
          </a:xfrm>
          <a:prstGeom prst="rect">
            <a:avLst/>
          </a:prstGeom>
          <a:noFill/>
          <a:ln/>
        </p:spPr>
        <p:txBody>
          <a:bodyPr wrap="square" lIns="0" tIns="0" rIns="0" bIns="0" rtlCol="0" anchor="ctr"/>
          <a:lstStyle/>
          <a:p>
            <a:pPr indent="0" marL="0">
              <a:buNone/>
            </a:pPr>
            <a:r>
              <a:rPr lang="en-US" sz="1700" b="1" dirty="0">
                <a:solidFill>
                  <a:srgbClr val="F5F5F7"/>
                </a:solidFill>
                <a:latin typeface="Calibri" pitchFamily="34" charset="0"/>
                <a:ea typeface="Calibri" pitchFamily="34" charset="-122"/>
                <a:cs typeface="Calibri" pitchFamily="34" charset="-120"/>
              </a:rPr>
              <a:t>Messy resume handling</a:t>
            </a:r>
            <a:endParaRPr lang="en-US" sz="1700" dirty="0"/>
          </a:p>
        </p:txBody>
      </p:sp>
      <p:sp>
        <p:nvSpPr>
          <p:cNvPr id="13" name="Text 11"/>
          <p:cNvSpPr txBox="1"/>
          <p:nvPr/>
        </p:nvSpPr>
        <p:spPr>
          <a:xfrm>
            <a:off x="6629400" y="3931920"/>
            <a:ext cx="4572000" cy="777240"/>
          </a:xfrm>
          <a:prstGeom prst="rect">
            <a:avLst/>
          </a:prstGeom>
          <a:noFill/>
          <a:ln/>
        </p:spPr>
        <p:txBody>
          <a:bodyPr wrap="square" lIns="0" tIns="0" rIns="0" bIns="0" rtlCol="0" anchor="ctr"/>
          <a:lstStyle/>
          <a:p>
            <a:pPr indent="0" marL="0">
              <a:buNone/>
            </a:pPr>
            <a:r>
              <a:rPr lang="en-US" sz="1200" dirty="0">
                <a:solidFill>
                  <a:srgbClr val="9A9AA2"/>
                </a:solidFill>
                <a:latin typeface="Calibri" pitchFamily="34" charset="0"/>
                <a:ea typeface="Calibri" pitchFamily="34" charset="-122"/>
                <a:cs typeface="Calibri" pitchFamily="34" charset="-120"/>
              </a:rPr>
              <a:t>Parse failures — scanned images, corrupted files — are isolated per file. One bad resume never crashes the batch.</a:t>
            </a:r>
            <a:endParaRPr lang="en-US" sz="1200" dirty="0"/>
          </a:p>
        </p:txBody>
      </p:sp>
      <p:sp>
        <p:nvSpPr>
          <p:cNvPr id="14" name="Shape 12"/>
          <p:cNvSpPr/>
          <p:nvPr/>
        </p:nvSpPr>
        <p:spPr>
          <a:xfrm>
            <a:off x="640080" y="5120640"/>
            <a:ext cx="10881360" cy="868680"/>
          </a:xfrm>
          <a:prstGeom prst="roundRect">
            <a:avLst>
              <a:gd name="adj" fmla="val 12632"/>
            </a:avLst>
          </a:prstGeom>
          <a:solidFill>
            <a:srgbClr val="1F1F24"/>
          </a:solidFill>
          <a:ln/>
          <a:effectLst>
            <a:outerShdw sx="100000" sy="100000" kx="0" ky="0" algn="bl" rotWithShape="0" blurRad="101600" dist="38100" dir="5400000">
              <a:srgbClr val="000000">
                <a:alpha val="35000"/>
              </a:srgbClr>
            </a:outerShdw>
          </a:effectLst>
        </p:spPr>
      </p:sp>
      <p:sp>
        <p:nvSpPr>
          <p:cNvPr id="15" name="Text 13"/>
          <p:cNvSpPr txBox="1"/>
          <p:nvPr/>
        </p:nvSpPr>
        <p:spPr>
          <a:xfrm>
            <a:off x="960120" y="5120640"/>
            <a:ext cx="10241280" cy="868680"/>
          </a:xfrm>
          <a:prstGeom prst="rect">
            <a:avLst/>
          </a:prstGeom>
          <a:noFill/>
          <a:ln/>
        </p:spPr>
        <p:txBody>
          <a:bodyPr wrap="square" lIns="0" tIns="0" rIns="0" bIns="0" rtlCol="0" anchor="ctr"/>
          <a:lstStyle/>
          <a:p>
            <a:pPr indent="0" marL="0">
              <a:buNone/>
            </a:pPr>
            <a:r>
              <a:rPr lang="en-US" sz="1250" i="1" dirty="0">
                <a:solidFill>
                  <a:srgbClr val="F5F5F7"/>
                </a:solidFill>
                <a:latin typeface="Calibri" pitchFamily="34" charset="0"/>
                <a:ea typeface="Calibri" pitchFamily="34" charset="-122"/>
                <a:cs typeface="Calibri" pitchFamily="34" charset="-120"/>
              </a:rPr>
              <a:t>Both were explicitly named as optional bonus directions in the problem statement — we built them because we saw them as real differentiators, not checkbox features.</a:t>
            </a:r>
            <a:endParaRPr lang="en-US" sz="1250" dirty="0"/>
          </a:p>
        </p:txBody>
      </p:sp>
      <p:sp>
        <p:nvSpPr>
          <p:cNvPr id="16" name="Text 14"/>
          <p:cNvSpPr txBox="1"/>
          <p:nvPr/>
        </p:nvSpPr>
        <p:spPr>
          <a:xfrm>
            <a:off x="457200" y="6473952"/>
            <a:ext cx="7315200" cy="274320"/>
          </a:xfrm>
          <a:prstGeom prst="rect">
            <a:avLst/>
          </a:prstGeom>
          <a:noFill/>
          <a:ln/>
        </p:spPr>
        <p:txBody>
          <a:bodyPr wrap="square" lIns="0" tIns="0" rIns="0" bIns="0" rtlCol="0" anchor="ctr"/>
          <a:lstStyle/>
          <a:p>
            <a:pPr indent="0" marL="0">
              <a:buNone/>
            </a:pPr>
            <a:r>
              <a:rPr lang="en-US" sz="900" dirty="0">
                <a:solidFill>
                  <a:srgbClr val="9A9AA2"/>
                </a:solidFill>
                <a:latin typeface="Calibri" pitchFamily="34" charset="0"/>
                <a:ea typeface="Calibri" pitchFamily="34" charset="-122"/>
                <a:cs typeface="Calibri" pitchFamily="34" charset="-120"/>
              </a:rPr>
              <a:t>Resumeeit — Smart Shortlisting Engine</a:t>
            </a:r>
            <a:endParaRPr lang="en-US" sz="900" dirty="0"/>
          </a:p>
        </p:txBody>
      </p:sp>
      <p:sp>
        <p:nvSpPr>
          <p:cNvPr id="17" name="Text 15"/>
          <p:cNvSpPr txBox="1"/>
          <p:nvPr/>
        </p:nvSpPr>
        <p:spPr>
          <a:xfrm>
            <a:off x="11000232" y="6473952"/>
            <a:ext cx="731520" cy="274320"/>
          </a:xfrm>
          <a:prstGeom prst="rect">
            <a:avLst/>
          </a:prstGeom>
          <a:noFill/>
          <a:ln/>
        </p:spPr>
        <p:txBody>
          <a:bodyPr wrap="square" lIns="0" tIns="0" rIns="0" bIns="0" rtlCol="0" anchor="ctr"/>
          <a:lstStyle/>
          <a:p>
            <a:pPr algn="r" indent="0" marL="0">
              <a:buNone/>
            </a:pPr>
            <a:r>
              <a:rPr lang="en-US" sz="900" dirty="0">
                <a:solidFill>
                  <a:srgbClr val="9A9AA2"/>
                </a:solidFill>
                <a:latin typeface="Calibri" pitchFamily="34" charset="0"/>
                <a:ea typeface="Calibri" pitchFamily="34" charset="-122"/>
                <a:cs typeface="Calibri" pitchFamily="34" charset="-120"/>
              </a:rPr>
              <a:t>07 / 10</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0A0A"/>
        </a:solidFill>
      </p:bgPr>
    </p:bg>
    <p:spTree>
      <p:nvGrpSpPr>
        <p:cNvPr id="1" name=""/>
        <p:cNvGrpSpPr/>
        <p:nvPr/>
      </p:nvGrpSpPr>
      <p:grpSpPr>
        <a:xfrm>
          <a:off x="0" y="0"/>
          <a:ext cx="0" cy="0"/>
          <a:chOff x="0" y="0"/>
          <a:chExt cx="0" cy="0"/>
        </a:xfrm>
      </p:grpSpPr>
      <p:sp>
        <p:nvSpPr>
          <p:cNvPr id="2" name="Text 0"/>
          <p:cNvSpPr txBox="1"/>
          <p:nvPr/>
        </p:nvSpPr>
        <p:spPr>
          <a:xfrm>
            <a:off x="640080" y="502920"/>
            <a:ext cx="7315200" cy="320040"/>
          </a:xfrm>
          <a:prstGeom prst="rect">
            <a:avLst/>
          </a:prstGeom>
          <a:noFill/>
          <a:ln/>
        </p:spPr>
        <p:txBody>
          <a:bodyPr wrap="square" lIns="0" tIns="0" rIns="0" bIns="0" rtlCol="0" anchor="ctr"/>
          <a:lstStyle/>
          <a:p>
            <a:pPr indent="0" marL="0">
              <a:buNone/>
            </a:pPr>
            <a:r>
              <a:rPr lang="en-US" sz="1200" b="1" spc="200" kern="0" dirty="0">
                <a:solidFill>
                  <a:srgbClr val="5E5CE6"/>
                </a:solidFill>
                <a:latin typeface="Calibri" pitchFamily="34" charset="0"/>
                <a:ea typeface="Calibri" pitchFamily="34" charset="-122"/>
                <a:cs typeface="Calibri" pitchFamily="34" charset="-120"/>
              </a:rPr>
              <a:t>UNDER THE HOOD</a:t>
            </a:r>
            <a:endParaRPr lang="en-US" sz="1200" dirty="0"/>
          </a:p>
        </p:txBody>
      </p:sp>
      <p:sp>
        <p:nvSpPr>
          <p:cNvPr id="3" name="Text 1"/>
          <p:cNvSpPr txBox="1"/>
          <p:nvPr/>
        </p:nvSpPr>
        <p:spPr>
          <a:xfrm>
            <a:off x="640080" y="822960"/>
            <a:ext cx="10789920" cy="914400"/>
          </a:xfrm>
          <a:prstGeom prst="rect">
            <a:avLst/>
          </a:prstGeom>
          <a:noFill/>
          <a:ln/>
        </p:spPr>
        <p:txBody>
          <a:bodyPr wrap="square" lIns="0" tIns="0" rIns="0" bIns="0" rtlCol="0" anchor="ctr"/>
          <a:lstStyle/>
          <a:p>
            <a:pPr indent="0" marL="0">
              <a:buNone/>
            </a:pPr>
            <a:r>
              <a:rPr lang="en-US" sz="3400" b="1" dirty="0">
                <a:solidFill>
                  <a:srgbClr val="F5F5F7"/>
                </a:solidFill>
                <a:latin typeface="Calibri" pitchFamily="34" charset="0"/>
                <a:ea typeface="Calibri" pitchFamily="34" charset="-122"/>
                <a:cs typeface="Calibri" pitchFamily="34" charset="-120"/>
              </a:rPr>
              <a:t>Tech stack</a:t>
            </a:r>
            <a:endParaRPr lang="en-US" sz="3400" dirty="0"/>
          </a:p>
        </p:txBody>
      </p:sp>
      <p:sp>
        <p:nvSpPr>
          <p:cNvPr id="4" name="Shape 2"/>
          <p:cNvSpPr/>
          <p:nvPr/>
        </p:nvSpPr>
        <p:spPr>
          <a:xfrm>
            <a:off x="640080" y="2286000"/>
            <a:ext cx="3502152" cy="3566160"/>
          </a:xfrm>
          <a:prstGeom prst="roundRect">
            <a:avLst>
              <a:gd name="adj" fmla="val 3133"/>
            </a:avLst>
          </a:prstGeom>
          <a:solidFill>
            <a:srgbClr val="17171B"/>
          </a:solidFill>
          <a:ln/>
          <a:effectLst>
            <a:outerShdw sx="100000" sy="100000" kx="0" ky="0" algn="bl" rotWithShape="0" blurRad="101600" dist="38100" dir="5400000">
              <a:srgbClr val="000000">
                <a:alpha val="35000"/>
              </a:srgbClr>
            </a:outerShdw>
          </a:effectLst>
        </p:spPr>
      </p:sp>
      <p:sp>
        <p:nvSpPr>
          <p:cNvPr id="5" name="Shape 3"/>
          <p:cNvSpPr/>
          <p:nvPr/>
        </p:nvSpPr>
        <p:spPr>
          <a:xfrm>
            <a:off x="914400" y="2560320"/>
            <a:ext cx="2953512" cy="54864"/>
          </a:xfrm>
          <a:prstGeom prst="roundRect">
            <a:avLst/>
          </a:prstGeom>
          <a:solidFill>
            <a:srgbClr val="5E5CE6"/>
          </a:solidFill>
          <a:ln/>
        </p:spPr>
      </p:sp>
      <p:sp>
        <p:nvSpPr>
          <p:cNvPr id="6" name="Text 4"/>
          <p:cNvSpPr txBox="1"/>
          <p:nvPr/>
        </p:nvSpPr>
        <p:spPr>
          <a:xfrm>
            <a:off x="914400" y="2724912"/>
            <a:ext cx="2953512" cy="457200"/>
          </a:xfrm>
          <a:prstGeom prst="rect">
            <a:avLst/>
          </a:prstGeom>
          <a:noFill/>
          <a:ln/>
        </p:spPr>
        <p:txBody>
          <a:bodyPr wrap="square" lIns="0" tIns="0" rIns="0" bIns="0" rtlCol="0" anchor="ctr"/>
          <a:lstStyle/>
          <a:p>
            <a:pPr indent="0" marL="0">
              <a:buNone/>
            </a:pPr>
            <a:r>
              <a:rPr lang="en-US" sz="1700" b="1" dirty="0">
                <a:solidFill>
                  <a:srgbClr val="F5F5F7"/>
                </a:solidFill>
                <a:latin typeface="Calibri" pitchFamily="34" charset="0"/>
                <a:ea typeface="Calibri" pitchFamily="34" charset="-122"/>
                <a:cs typeface="Calibri" pitchFamily="34" charset="-120"/>
              </a:rPr>
              <a:t>Frontend</a:t>
            </a:r>
            <a:endParaRPr lang="en-US" sz="1700" dirty="0"/>
          </a:p>
        </p:txBody>
      </p:sp>
      <p:sp>
        <p:nvSpPr>
          <p:cNvPr id="7" name="Text 5"/>
          <p:cNvSpPr txBox="1"/>
          <p:nvPr/>
        </p:nvSpPr>
        <p:spPr>
          <a:xfrm>
            <a:off x="914400" y="3291840"/>
            <a:ext cx="2953512" cy="2286000"/>
          </a:xfrm>
          <a:prstGeom prst="rect">
            <a:avLst/>
          </a:prstGeom>
          <a:noFill/>
          <a:ln/>
        </p:spPr>
        <p:txBody>
          <a:bodyPr wrap="square" lIns="0" tIns="0" rIns="0" bIns="0" rtlCol="0" anchor="t"/>
          <a:lstStyle/>
          <a:p>
            <a:pPr marL="342900" indent="-342900">
              <a:spcAft>
                <a:spcPts val="1200"/>
              </a:spcAft>
              <a:buSzPct val="100000"/>
              <a:buChar char="•"/>
            </a:pPr>
            <a:r>
              <a:rPr lang="en-US" sz="1200" dirty="0">
                <a:solidFill>
                  <a:srgbClr val="9A9AA2"/>
                </a:solidFill>
                <a:latin typeface="Calibri" pitchFamily="34" charset="0"/>
                <a:ea typeface="Calibri" pitchFamily="34" charset="-122"/>
                <a:cs typeface="Calibri" pitchFamily="34" charset="-120"/>
              </a:rPr>
              <a:t>React + Vite</a:t>
            </a:r>
            <a:endParaRPr lang="en-US" sz="1200" dirty="0"/>
          </a:p>
          <a:p>
            <a:pPr marL="342900" indent="-342900">
              <a:spcAft>
                <a:spcPts val="1200"/>
              </a:spcAft>
              <a:buSzPct val="100000"/>
              <a:buChar char="•"/>
            </a:pPr>
            <a:r>
              <a:rPr lang="en-US" sz="1200" dirty="0">
                <a:solidFill>
                  <a:srgbClr val="9A9AA2"/>
                </a:solidFill>
                <a:latin typeface="Calibri" pitchFamily="34" charset="0"/>
                <a:ea typeface="Calibri" pitchFamily="34" charset="-122"/>
                <a:cs typeface="Calibri" pitchFamily="34" charset="-120"/>
              </a:rPr>
              <a:t>pdf.js (in-browser PDF)</a:t>
            </a:r>
            <a:endParaRPr lang="en-US" sz="1200" dirty="0"/>
          </a:p>
          <a:p>
            <a:pPr marL="342900" indent="-342900">
              <a:spcAft>
                <a:spcPts val="1200"/>
              </a:spcAft>
              <a:buSzPct val="100000"/>
              <a:buChar char="•"/>
            </a:pPr>
            <a:r>
              <a:rPr lang="en-US" sz="1200" dirty="0">
                <a:solidFill>
                  <a:srgbClr val="9A9AA2"/>
                </a:solidFill>
                <a:latin typeface="Calibri" pitchFamily="34" charset="0"/>
                <a:ea typeface="Calibri" pitchFamily="34" charset="-122"/>
                <a:cs typeface="Calibri" pitchFamily="34" charset="-120"/>
              </a:rPr>
              <a:t>mammoth.js (DOCX)</a:t>
            </a:r>
            <a:endParaRPr lang="en-US" sz="1200" dirty="0"/>
          </a:p>
          <a:p>
            <a:pPr marL="342900" indent="-342900">
              <a:spcAft>
                <a:spcPts val="1200"/>
              </a:spcAft>
              <a:buSzPct val="100000"/>
              <a:buChar char="•"/>
            </a:pPr>
            <a:r>
              <a:rPr lang="en-US" sz="1200" dirty="0">
                <a:solidFill>
                  <a:srgbClr val="9A9AA2"/>
                </a:solidFill>
                <a:latin typeface="Calibri" pitchFamily="34" charset="0"/>
                <a:ea typeface="Calibri" pitchFamily="34" charset="-122"/>
                <a:cs typeface="Calibri" pitchFamily="34" charset="-120"/>
              </a:rPr>
              <a:t>jsPDF (letters &amp; reports)</a:t>
            </a:r>
            <a:endParaRPr lang="en-US" sz="1200" dirty="0"/>
          </a:p>
        </p:txBody>
      </p:sp>
      <p:sp>
        <p:nvSpPr>
          <p:cNvPr id="8" name="Shape 6"/>
          <p:cNvSpPr/>
          <p:nvPr/>
        </p:nvSpPr>
        <p:spPr>
          <a:xfrm>
            <a:off x="4416552" y="2286000"/>
            <a:ext cx="3502152" cy="3566160"/>
          </a:xfrm>
          <a:prstGeom prst="roundRect">
            <a:avLst>
              <a:gd name="adj" fmla="val 3133"/>
            </a:avLst>
          </a:prstGeom>
          <a:solidFill>
            <a:srgbClr val="17171B"/>
          </a:solidFill>
          <a:ln/>
          <a:effectLst>
            <a:outerShdw sx="100000" sy="100000" kx="0" ky="0" algn="bl" rotWithShape="0" blurRad="101600" dist="38100" dir="5400000">
              <a:srgbClr val="000000">
                <a:alpha val="35000"/>
              </a:srgbClr>
            </a:outerShdw>
          </a:effectLst>
        </p:spPr>
      </p:sp>
      <p:sp>
        <p:nvSpPr>
          <p:cNvPr id="9" name="Shape 7"/>
          <p:cNvSpPr/>
          <p:nvPr/>
        </p:nvSpPr>
        <p:spPr>
          <a:xfrm>
            <a:off x="4690872" y="2560320"/>
            <a:ext cx="2953512" cy="54864"/>
          </a:xfrm>
          <a:prstGeom prst="roundRect">
            <a:avLst/>
          </a:prstGeom>
          <a:solidFill>
            <a:srgbClr val="5E5CE6"/>
          </a:solidFill>
          <a:ln/>
        </p:spPr>
      </p:sp>
      <p:sp>
        <p:nvSpPr>
          <p:cNvPr id="10" name="Text 8"/>
          <p:cNvSpPr txBox="1"/>
          <p:nvPr/>
        </p:nvSpPr>
        <p:spPr>
          <a:xfrm>
            <a:off x="4690872" y="2724912"/>
            <a:ext cx="2953512" cy="457200"/>
          </a:xfrm>
          <a:prstGeom prst="rect">
            <a:avLst/>
          </a:prstGeom>
          <a:noFill/>
          <a:ln/>
        </p:spPr>
        <p:txBody>
          <a:bodyPr wrap="square" lIns="0" tIns="0" rIns="0" bIns="0" rtlCol="0" anchor="ctr"/>
          <a:lstStyle/>
          <a:p>
            <a:pPr indent="0" marL="0">
              <a:buNone/>
            </a:pPr>
            <a:r>
              <a:rPr lang="en-US" sz="1700" b="1" dirty="0">
                <a:solidFill>
                  <a:srgbClr val="F5F5F7"/>
                </a:solidFill>
                <a:latin typeface="Calibri" pitchFamily="34" charset="0"/>
                <a:ea typeface="Calibri" pitchFamily="34" charset="-122"/>
                <a:cs typeface="Calibri" pitchFamily="34" charset="-120"/>
              </a:rPr>
              <a:t>Backend</a:t>
            </a:r>
            <a:endParaRPr lang="en-US" sz="1700" dirty="0"/>
          </a:p>
        </p:txBody>
      </p:sp>
      <p:sp>
        <p:nvSpPr>
          <p:cNvPr id="11" name="Text 9"/>
          <p:cNvSpPr txBox="1"/>
          <p:nvPr/>
        </p:nvSpPr>
        <p:spPr>
          <a:xfrm>
            <a:off x="4690872" y="3291840"/>
            <a:ext cx="2953512" cy="2286000"/>
          </a:xfrm>
          <a:prstGeom prst="rect">
            <a:avLst/>
          </a:prstGeom>
          <a:noFill/>
          <a:ln/>
        </p:spPr>
        <p:txBody>
          <a:bodyPr wrap="square" lIns="0" tIns="0" rIns="0" bIns="0" rtlCol="0" anchor="t"/>
          <a:lstStyle/>
          <a:p>
            <a:pPr marL="342900" indent="-342900">
              <a:spcAft>
                <a:spcPts val="1200"/>
              </a:spcAft>
              <a:buSzPct val="100000"/>
              <a:buChar char="•"/>
            </a:pPr>
            <a:r>
              <a:rPr lang="en-US" sz="1200" dirty="0">
                <a:solidFill>
                  <a:srgbClr val="9A9AA2"/>
                </a:solidFill>
                <a:latin typeface="Calibri" pitchFamily="34" charset="0"/>
                <a:ea typeface="Calibri" pitchFamily="34" charset="-122"/>
                <a:cs typeface="Calibri" pitchFamily="34" charset="-120"/>
              </a:rPr>
              <a:t>FastAPI + Python</a:t>
            </a:r>
            <a:endParaRPr lang="en-US" sz="1200" dirty="0"/>
          </a:p>
          <a:p>
            <a:pPr marL="342900" indent="-342900">
              <a:spcAft>
                <a:spcPts val="1200"/>
              </a:spcAft>
              <a:buSzPct val="100000"/>
              <a:buChar char="•"/>
            </a:pPr>
            <a:r>
              <a:rPr lang="en-US" sz="1200" dirty="0">
                <a:solidFill>
                  <a:srgbClr val="9A9AA2"/>
                </a:solidFill>
                <a:latin typeface="Calibri" pitchFamily="34" charset="0"/>
                <a:ea typeface="Calibri" pitchFamily="34" charset="-122"/>
                <a:cs typeface="Calibri" pitchFamily="34" charset="-120"/>
              </a:rPr>
              <a:t>Async job queue</a:t>
            </a:r>
            <a:endParaRPr lang="en-US" sz="1200" dirty="0"/>
          </a:p>
          <a:p>
            <a:pPr marL="342900" indent="-342900">
              <a:spcAft>
                <a:spcPts val="1200"/>
              </a:spcAft>
              <a:buSzPct val="100000"/>
              <a:buChar char="•"/>
            </a:pPr>
            <a:r>
              <a:rPr lang="en-US" sz="1200" dirty="0">
                <a:solidFill>
                  <a:srgbClr val="9A9AA2"/>
                </a:solidFill>
                <a:latin typeface="Calibri" pitchFamily="34" charset="0"/>
                <a:ea typeface="Calibri" pitchFamily="34" charset="-122"/>
                <a:cs typeface="Calibri" pitchFamily="34" charset="-120"/>
              </a:rPr>
              <a:t>200+ resumes, &lt; 60s</a:t>
            </a:r>
            <a:endParaRPr lang="en-US" sz="1200" dirty="0"/>
          </a:p>
          <a:p>
            <a:pPr marL="342900" indent="-342900">
              <a:spcAft>
                <a:spcPts val="1200"/>
              </a:spcAft>
              <a:buSzPct val="100000"/>
              <a:buChar char="•"/>
            </a:pPr>
            <a:r>
              <a:rPr lang="en-US" sz="1200" dirty="0">
                <a:solidFill>
                  <a:srgbClr val="9A9AA2"/>
                </a:solidFill>
                <a:latin typeface="Calibri" pitchFamily="34" charset="0"/>
                <a:ea typeface="Calibri" pitchFamily="34" charset="-122"/>
                <a:cs typeface="Calibri" pitchFamily="34" charset="-120"/>
              </a:rPr>
              <a:t>Live progress reporting</a:t>
            </a:r>
            <a:endParaRPr lang="en-US" sz="1200" dirty="0"/>
          </a:p>
        </p:txBody>
      </p:sp>
      <p:sp>
        <p:nvSpPr>
          <p:cNvPr id="12" name="Shape 10"/>
          <p:cNvSpPr/>
          <p:nvPr/>
        </p:nvSpPr>
        <p:spPr>
          <a:xfrm>
            <a:off x="8193024" y="2286000"/>
            <a:ext cx="3502152" cy="3566160"/>
          </a:xfrm>
          <a:prstGeom prst="roundRect">
            <a:avLst>
              <a:gd name="adj" fmla="val 3133"/>
            </a:avLst>
          </a:prstGeom>
          <a:solidFill>
            <a:srgbClr val="17171B"/>
          </a:solidFill>
          <a:ln/>
          <a:effectLst>
            <a:outerShdw sx="100000" sy="100000" kx="0" ky="0" algn="bl" rotWithShape="0" blurRad="101600" dist="38100" dir="5400000">
              <a:srgbClr val="000000">
                <a:alpha val="35000"/>
              </a:srgbClr>
            </a:outerShdw>
          </a:effectLst>
        </p:spPr>
      </p:sp>
      <p:sp>
        <p:nvSpPr>
          <p:cNvPr id="13" name="Shape 11"/>
          <p:cNvSpPr/>
          <p:nvPr/>
        </p:nvSpPr>
        <p:spPr>
          <a:xfrm>
            <a:off x="8467344" y="2560320"/>
            <a:ext cx="2953512" cy="54864"/>
          </a:xfrm>
          <a:prstGeom prst="roundRect">
            <a:avLst/>
          </a:prstGeom>
          <a:solidFill>
            <a:srgbClr val="5E5CE6"/>
          </a:solidFill>
          <a:ln/>
        </p:spPr>
      </p:sp>
      <p:sp>
        <p:nvSpPr>
          <p:cNvPr id="14" name="Text 12"/>
          <p:cNvSpPr txBox="1"/>
          <p:nvPr/>
        </p:nvSpPr>
        <p:spPr>
          <a:xfrm>
            <a:off x="8467344" y="2724912"/>
            <a:ext cx="2953512" cy="457200"/>
          </a:xfrm>
          <a:prstGeom prst="rect">
            <a:avLst/>
          </a:prstGeom>
          <a:noFill/>
          <a:ln/>
        </p:spPr>
        <p:txBody>
          <a:bodyPr wrap="square" lIns="0" tIns="0" rIns="0" bIns="0" rtlCol="0" anchor="ctr"/>
          <a:lstStyle/>
          <a:p>
            <a:pPr indent="0" marL="0">
              <a:buNone/>
            </a:pPr>
            <a:r>
              <a:rPr lang="en-US" sz="1700" b="1" dirty="0">
                <a:solidFill>
                  <a:srgbClr val="F5F5F7"/>
                </a:solidFill>
                <a:latin typeface="Calibri" pitchFamily="34" charset="0"/>
                <a:ea typeface="Calibri" pitchFamily="34" charset="-122"/>
                <a:cs typeface="Calibri" pitchFamily="34" charset="-120"/>
              </a:rPr>
              <a:t>ML / NLP</a:t>
            </a:r>
            <a:endParaRPr lang="en-US" sz="1700" dirty="0"/>
          </a:p>
        </p:txBody>
      </p:sp>
      <p:sp>
        <p:nvSpPr>
          <p:cNvPr id="15" name="Text 13"/>
          <p:cNvSpPr txBox="1"/>
          <p:nvPr/>
        </p:nvSpPr>
        <p:spPr>
          <a:xfrm>
            <a:off x="8467344" y="3291840"/>
            <a:ext cx="2953512" cy="2286000"/>
          </a:xfrm>
          <a:prstGeom prst="rect">
            <a:avLst/>
          </a:prstGeom>
          <a:noFill/>
          <a:ln/>
        </p:spPr>
        <p:txBody>
          <a:bodyPr wrap="square" lIns="0" tIns="0" rIns="0" bIns="0" rtlCol="0" anchor="t"/>
          <a:lstStyle/>
          <a:p>
            <a:pPr marL="342900" indent="-342900">
              <a:spcAft>
                <a:spcPts val="1200"/>
              </a:spcAft>
              <a:buSzPct val="100000"/>
              <a:buChar char="•"/>
            </a:pPr>
            <a:r>
              <a:rPr lang="en-US" sz="1200" dirty="0">
                <a:solidFill>
                  <a:srgbClr val="9A9AA2"/>
                </a:solidFill>
                <a:latin typeface="Calibri" pitchFamily="34" charset="0"/>
                <a:ea typeface="Calibri" pitchFamily="34" charset="-122"/>
                <a:cs typeface="Calibri" pitchFamily="34" charset="-120"/>
              </a:rPr>
              <a:t>sentence-transformers</a:t>
            </a:r>
            <a:endParaRPr lang="en-US" sz="1200" dirty="0"/>
          </a:p>
          <a:p>
            <a:pPr marL="342900" indent="-342900">
              <a:spcAft>
                <a:spcPts val="1200"/>
              </a:spcAft>
              <a:buSzPct val="100000"/>
              <a:buChar char="•"/>
            </a:pPr>
            <a:r>
              <a:rPr lang="en-US" sz="1200" dirty="0">
                <a:solidFill>
                  <a:srgbClr val="9A9AA2"/>
                </a:solidFill>
                <a:latin typeface="Calibri" pitchFamily="34" charset="0"/>
                <a:ea typeface="Calibri" pitchFamily="34" charset="-122"/>
                <a:cs typeface="Calibri" pitchFamily="34" charset="-120"/>
              </a:rPr>
              <a:t>spaCy NER</a:t>
            </a:r>
            <a:endParaRPr lang="en-US" sz="1200" dirty="0"/>
          </a:p>
          <a:p>
            <a:pPr marL="342900" indent="-342900">
              <a:spcAft>
                <a:spcPts val="1200"/>
              </a:spcAft>
              <a:buSzPct val="100000"/>
              <a:buChar char="•"/>
            </a:pPr>
            <a:r>
              <a:rPr lang="en-US" sz="1200" dirty="0">
                <a:solidFill>
                  <a:srgbClr val="9A9AA2"/>
                </a:solidFill>
                <a:latin typeface="Calibri" pitchFamily="34" charset="0"/>
                <a:ea typeface="Calibri" pitchFamily="34" charset="-122"/>
                <a:cs typeface="Calibri" pitchFamily="34" charset="-120"/>
              </a:rPr>
              <a:t>scikit-learn (TF-IDF/LSA)</a:t>
            </a:r>
            <a:endParaRPr lang="en-US" sz="1200" dirty="0"/>
          </a:p>
          <a:p>
            <a:pPr marL="342900" indent="-342900">
              <a:spcAft>
                <a:spcPts val="1200"/>
              </a:spcAft>
              <a:buSzPct val="100000"/>
              <a:buChar char="•"/>
            </a:pPr>
            <a:r>
              <a:rPr lang="en-US" sz="1200" dirty="0">
                <a:solidFill>
                  <a:srgbClr val="9A9AA2"/>
                </a:solidFill>
                <a:latin typeface="Calibri" pitchFamily="34" charset="0"/>
                <a:ea typeface="Calibri" pitchFamily="34" charset="-122"/>
                <a:cs typeface="Calibri" pitchFamily="34" charset="-120"/>
              </a:rPr>
              <a:t>Graceful degradation chain</a:t>
            </a:r>
            <a:endParaRPr lang="en-US" sz="1200" dirty="0"/>
          </a:p>
        </p:txBody>
      </p:sp>
      <p:sp>
        <p:nvSpPr>
          <p:cNvPr id="16" name="Text 14"/>
          <p:cNvSpPr txBox="1"/>
          <p:nvPr/>
        </p:nvSpPr>
        <p:spPr>
          <a:xfrm>
            <a:off x="457200" y="6473952"/>
            <a:ext cx="7315200" cy="274320"/>
          </a:xfrm>
          <a:prstGeom prst="rect">
            <a:avLst/>
          </a:prstGeom>
          <a:noFill/>
          <a:ln/>
        </p:spPr>
        <p:txBody>
          <a:bodyPr wrap="square" lIns="0" tIns="0" rIns="0" bIns="0" rtlCol="0" anchor="ctr"/>
          <a:lstStyle/>
          <a:p>
            <a:pPr indent="0" marL="0">
              <a:buNone/>
            </a:pPr>
            <a:r>
              <a:rPr lang="en-US" sz="900" dirty="0">
                <a:solidFill>
                  <a:srgbClr val="9A9AA2"/>
                </a:solidFill>
                <a:latin typeface="Calibri" pitchFamily="34" charset="0"/>
                <a:ea typeface="Calibri" pitchFamily="34" charset="-122"/>
                <a:cs typeface="Calibri" pitchFamily="34" charset="-120"/>
              </a:rPr>
              <a:t>Resumeeit — Smart Shortlisting Engine</a:t>
            </a:r>
            <a:endParaRPr lang="en-US" sz="900" dirty="0"/>
          </a:p>
        </p:txBody>
      </p:sp>
      <p:sp>
        <p:nvSpPr>
          <p:cNvPr id="17" name="Text 15"/>
          <p:cNvSpPr txBox="1"/>
          <p:nvPr/>
        </p:nvSpPr>
        <p:spPr>
          <a:xfrm>
            <a:off x="11000232" y="6473952"/>
            <a:ext cx="731520" cy="274320"/>
          </a:xfrm>
          <a:prstGeom prst="rect">
            <a:avLst/>
          </a:prstGeom>
          <a:noFill/>
          <a:ln/>
        </p:spPr>
        <p:txBody>
          <a:bodyPr wrap="square" lIns="0" tIns="0" rIns="0" bIns="0" rtlCol="0" anchor="ctr"/>
          <a:lstStyle/>
          <a:p>
            <a:pPr algn="r" indent="0" marL="0">
              <a:buNone/>
            </a:pPr>
            <a:r>
              <a:rPr lang="en-US" sz="900" dirty="0">
                <a:solidFill>
                  <a:srgbClr val="9A9AA2"/>
                </a:solidFill>
                <a:latin typeface="Calibri" pitchFamily="34" charset="0"/>
                <a:ea typeface="Calibri" pitchFamily="34" charset="-122"/>
                <a:cs typeface="Calibri" pitchFamily="34" charset="-120"/>
              </a:rPr>
              <a:t>08 / 10</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0A0A"/>
        </a:solidFill>
      </p:bgPr>
    </p:bg>
    <p:spTree>
      <p:nvGrpSpPr>
        <p:cNvPr id="1" name=""/>
        <p:cNvGrpSpPr/>
        <p:nvPr/>
      </p:nvGrpSpPr>
      <p:grpSpPr>
        <a:xfrm>
          <a:off x="0" y="0"/>
          <a:ext cx="0" cy="0"/>
          <a:chOff x="0" y="0"/>
          <a:chExt cx="0" cy="0"/>
        </a:xfrm>
      </p:grpSpPr>
      <p:sp>
        <p:nvSpPr>
          <p:cNvPr id="2" name="Text 0"/>
          <p:cNvSpPr txBox="1"/>
          <p:nvPr/>
        </p:nvSpPr>
        <p:spPr>
          <a:xfrm>
            <a:off x="640080" y="502920"/>
            <a:ext cx="7315200" cy="320040"/>
          </a:xfrm>
          <a:prstGeom prst="rect">
            <a:avLst/>
          </a:prstGeom>
          <a:noFill/>
          <a:ln/>
        </p:spPr>
        <p:txBody>
          <a:bodyPr wrap="square" lIns="0" tIns="0" rIns="0" bIns="0" rtlCol="0" anchor="ctr"/>
          <a:lstStyle/>
          <a:p>
            <a:pPr indent="0" marL="0">
              <a:buNone/>
            </a:pPr>
            <a:r>
              <a:rPr lang="en-US" sz="1200" b="1" spc="200" kern="0" dirty="0">
                <a:solidFill>
                  <a:srgbClr val="5E5CE6"/>
                </a:solidFill>
                <a:latin typeface="Calibri" pitchFamily="34" charset="0"/>
                <a:ea typeface="Calibri" pitchFamily="34" charset="-122"/>
                <a:cs typeface="Calibri" pitchFamily="34" charset="-120"/>
              </a:rPr>
              <a:t>PROOF, NOT JUST CLAIMS</a:t>
            </a:r>
            <a:endParaRPr lang="en-US" sz="1200" dirty="0"/>
          </a:p>
        </p:txBody>
      </p:sp>
      <p:sp>
        <p:nvSpPr>
          <p:cNvPr id="3" name="Text 1"/>
          <p:cNvSpPr txBox="1"/>
          <p:nvPr/>
        </p:nvSpPr>
        <p:spPr>
          <a:xfrm>
            <a:off x="640080" y="822960"/>
            <a:ext cx="10789920" cy="914400"/>
          </a:xfrm>
          <a:prstGeom prst="rect">
            <a:avLst/>
          </a:prstGeom>
          <a:noFill/>
          <a:ln/>
        </p:spPr>
        <p:txBody>
          <a:bodyPr wrap="square" lIns="0" tIns="0" rIns="0" bIns="0" rtlCol="0" anchor="ctr"/>
          <a:lstStyle/>
          <a:p>
            <a:pPr indent="0" marL="0">
              <a:buNone/>
            </a:pPr>
            <a:r>
              <a:rPr lang="en-US" sz="3400" b="1" dirty="0">
                <a:solidFill>
                  <a:srgbClr val="F5F5F7"/>
                </a:solidFill>
                <a:latin typeface="Calibri" pitchFamily="34" charset="0"/>
                <a:ea typeface="Calibri" pitchFamily="34" charset="-122"/>
                <a:cs typeface="Calibri" pitchFamily="34" charset="-120"/>
              </a:rPr>
              <a:t>Verified end-to-end</a:t>
            </a:r>
            <a:endParaRPr lang="en-US" sz="3400" dirty="0"/>
          </a:p>
        </p:txBody>
      </p:sp>
      <p:sp>
        <p:nvSpPr>
          <p:cNvPr id="4" name="Shape 2"/>
          <p:cNvSpPr/>
          <p:nvPr/>
        </p:nvSpPr>
        <p:spPr>
          <a:xfrm>
            <a:off x="640080" y="2377440"/>
            <a:ext cx="3502152" cy="2377440"/>
          </a:xfrm>
          <a:prstGeom prst="roundRect">
            <a:avLst>
              <a:gd name="adj" fmla="val 4615"/>
            </a:avLst>
          </a:prstGeom>
          <a:solidFill>
            <a:srgbClr val="1F1F24"/>
          </a:solidFill>
          <a:ln/>
          <a:effectLst>
            <a:outerShdw sx="100000" sy="100000" kx="0" ky="0" algn="bl" rotWithShape="0" blurRad="101600" dist="38100" dir="5400000">
              <a:srgbClr val="000000">
                <a:alpha val="35000"/>
              </a:srgbClr>
            </a:outerShdw>
          </a:effectLst>
        </p:spPr>
      </p:sp>
      <p:sp>
        <p:nvSpPr>
          <p:cNvPr id="5" name="Text 3"/>
          <p:cNvSpPr txBox="1"/>
          <p:nvPr/>
        </p:nvSpPr>
        <p:spPr>
          <a:xfrm>
            <a:off x="822960" y="2697480"/>
            <a:ext cx="3136392" cy="914400"/>
          </a:xfrm>
          <a:prstGeom prst="rect">
            <a:avLst/>
          </a:prstGeom>
          <a:noFill/>
          <a:ln/>
        </p:spPr>
        <p:txBody>
          <a:bodyPr wrap="square" lIns="0" tIns="0" rIns="0" bIns="0" rtlCol="0" anchor="ctr"/>
          <a:lstStyle/>
          <a:p>
            <a:pPr algn="ctr" indent="0" marL="0">
              <a:buNone/>
            </a:pPr>
            <a:r>
              <a:rPr lang="en-US" sz="3400" b="1" dirty="0">
                <a:solidFill>
                  <a:srgbClr val="30D158"/>
                </a:solidFill>
                <a:latin typeface="Calibri" pitchFamily="34" charset="0"/>
                <a:ea typeface="Calibri" pitchFamily="34" charset="-122"/>
                <a:cs typeface="Calibri" pitchFamily="34" charset="-120"/>
              </a:rPr>
              <a:t>92 → 20 → 0</a:t>
            </a:r>
            <a:endParaRPr lang="en-US" sz="3400" dirty="0"/>
          </a:p>
        </p:txBody>
      </p:sp>
      <p:sp>
        <p:nvSpPr>
          <p:cNvPr id="6" name="Text 4"/>
          <p:cNvSpPr txBox="1"/>
          <p:nvPr/>
        </p:nvSpPr>
        <p:spPr>
          <a:xfrm>
            <a:off x="960120" y="3657600"/>
            <a:ext cx="2862072" cy="960120"/>
          </a:xfrm>
          <a:prstGeom prst="rect">
            <a:avLst/>
          </a:prstGeom>
          <a:noFill/>
          <a:ln/>
        </p:spPr>
        <p:txBody>
          <a:bodyPr wrap="square" lIns="0" tIns="0" rIns="0" bIns="0" rtlCol="0" anchor="ctr"/>
          <a:lstStyle/>
          <a:p>
            <a:pPr algn="ctr" indent="0" marL="0">
              <a:buNone/>
            </a:pPr>
            <a:r>
              <a:rPr lang="en-US" sz="1150" dirty="0">
                <a:solidFill>
                  <a:srgbClr val="9A9AA2"/>
                </a:solidFill>
                <a:latin typeface="Calibri" pitchFamily="34" charset="0"/>
                <a:ea typeface="Calibri" pitchFamily="34" charset="-122"/>
                <a:cs typeface="Calibri" pitchFamily="34" charset="-120"/>
              </a:rPr>
              <a:t>Real score spread across a test batch — not clustered, indistinguishable results</a:t>
            </a:r>
            <a:endParaRPr lang="en-US" sz="1150" dirty="0"/>
          </a:p>
        </p:txBody>
      </p:sp>
      <p:sp>
        <p:nvSpPr>
          <p:cNvPr id="7" name="Shape 5"/>
          <p:cNvSpPr/>
          <p:nvPr/>
        </p:nvSpPr>
        <p:spPr>
          <a:xfrm>
            <a:off x="4416552" y="2377440"/>
            <a:ext cx="3502152" cy="2377440"/>
          </a:xfrm>
          <a:prstGeom prst="roundRect">
            <a:avLst>
              <a:gd name="adj" fmla="val 4615"/>
            </a:avLst>
          </a:prstGeom>
          <a:solidFill>
            <a:srgbClr val="1F1F24"/>
          </a:solidFill>
          <a:ln/>
          <a:effectLst>
            <a:outerShdw sx="100000" sy="100000" kx="0" ky="0" algn="bl" rotWithShape="0" blurRad="101600" dist="38100" dir="5400000">
              <a:srgbClr val="000000">
                <a:alpha val="35000"/>
              </a:srgbClr>
            </a:outerShdw>
          </a:effectLst>
        </p:spPr>
      </p:sp>
      <p:sp>
        <p:nvSpPr>
          <p:cNvPr id="8" name="Text 6"/>
          <p:cNvSpPr txBox="1"/>
          <p:nvPr/>
        </p:nvSpPr>
        <p:spPr>
          <a:xfrm>
            <a:off x="4599432" y="2697480"/>
            <a:ext cx="3136392" cy="914400"/>
          </a:xfrm>
          <a:prstGeom prst="rect">
            <a:avLst/>
          </a:prstGeom>
          <a:noFill/>
          <a:ln/>
        </p:spPr>
        <p:txBody>
          <a:bodyPr wrap="square" lIns="0" tIns="0" rIns="0" bIns="0" rtlCol="0" anchor="ctr"/>
          <a:lstStyle/>
          <a:p>
            <a:pPr algn="ctr" indent="0" marL="0">
              <a:buNone/>
            </a:pPr>
            <a:r>
              <a:rPr lang="en-US" sz="3400" b="1" dirty="0">
                <a:solidFill>
                  <a:srgbClr val="5E5CE6"/>
                </a:solidFill>
                <a:latin typeface="Calibri" pitchFamily="34" charset="0"/>
                <a:ea typeface="Calibri" pitchFamily="34" charset="-122"/>
                <a:cs typeface="Calibri" pitchFamily="34" charset="-120"/>
              </a:rPr>
              <a:t>204</a:t>
            </a:r>
            <a:endParaRPr lang="en-US" sz="3400" dirty="0"/>
          </a:p>
        </p:txBody>
      </p:sp>
      <p:sp>
        <p:nvSpPr>
          <p:cNvPr id="9" name="Text 7"/>
          <p:cNvSpPr txBox="1"/>
          <p:nvPr/>
        </p:nvSpPr>
        <p:spPr>
          <a:xfrm>
            <a:off x="4736592" y="3657600"/>
            <a:ext cx="2862072" cy="960120"/>
          </a:xfrm>
          <a:prstGeom prst="rect">
            <a:avLst/>
          </a:prstGeom>
          <a:noFill/>
          <a:ln/>
        </p:spPr>
        <p:txBody>
          <a:bodyPr wrap="square" lIns="0" tIns="0" rIns="0" bIns="0" rtlCol="0" anchor="ctr"/>
          <a:lstStyle/>
          <a:p>
            <a:pPr algn="ctr" indent="0" marL="0">
              <a:buNone/>
            </a:pPr>
            <a:r>
              <a:rPr lang="en-US" sz="1150" dirty="0">
                <a:solidFill>
                  <a:srgbClr val="9A9AA2"/>
                </a:solidFill>
                <a:latin typeface="Calibri" pitchFamily="34" charset="0"/>
                <a:ea typeface="Calibri" pitchFamily="34" charset="-122"/>
                <a:cs typeface="Calibri" pitchFamily="34" charset="-120"/>
              </a:rPr>
              <a:t>Resumes screened end-to-end in one benchmarked batch run</a:t>
            </a:r>
            <a:endParaRPr lang="en-US" sz="1150" dirty="0"/>
          </a:p>
        </p:txBody>
      </p:sp>
      <p:sp>
        <p:nvSpPr>
          <p:cNvPr id="10" name="Shape 8"/>
          <p:cNvSpPr/>
          <p:nvPr/>
        </p:nvSpPr>
        <p:spPr>
          <a:xfrm>
            <a:off x="8193024" y="2377440"/>
            <a:ext cx="3502152" cy="2377440"/>
          </a:xfrm>
          <a:prstGeom prst="roundRect">
            <a:avLst>
              <a:gd name="adj" fmla="val 4615"/>
            </a:avLst>
          </a:prstGeom>
          <a:solidFill>
            <a:srgbClr val="1F1F24"/>
          </a:solidFill>
          <a:ln/>
          <a:effectLst>
            <a:outerShdw sx="100000" sy="100000" kx="0" ky="0" algn="bl" rotWithShape="0" blurRad="101600" dist="38100" dir="5400000">
              <a:srgbClr val="000000">
                <a:alpha val="35000"/>
              </a:srgbClr>
            </a:outerShdw>
          </a:effectLst>
        </p:spPr>
      </p:sp>
      <p:sp>
        <p:nvSpPr>
          <p:cNvPr id="11" name="Text 9"/>
          <p:cNvSpPr txBox="1"/>
          <p:nvPr/>
        </p:nvSpPr>
        <p:spPr>
          <a:xfrm>
            <a:off x="8375904" y="2697480"/>
            <a:ext cx="3136392" cy="914400"/>
          </a:xfrm>
          <a:prstGeom prst="rect">
            <a:avLst/>
          </a:prstGeom>
          <a:noFill/>
          <a:ln/>
        </p:spPr>
        <p:txBody>
          <a:bodyPr wrap="square" lIns="0" tIns="0" rIns="0" bIns="0" rtlCol="0" anchor="ctr"/>
          <a:lstStyle/>
          <a:p>
            <a:pPr algn="ctr" indent="0" marL="0">
              <a:buNone/>
            </a:pPr>
            <a:r>
              <a:rPr lang="en-US" sz="3400" b="1" dirty="0">
                <a:solidFill>
                  <a:srgbClr val="FFB454"/>
                </a:solidFill>
                <a:latin typeface="Calibri" pitchFamily="34" charset="0"/>
                <a:ea typeface="Calibri" pitchFamily="34" charset="-122"/>
                <a:cs typeface="Calibri" pitchFamily="34" charset="-120"/>
              </a:rPr>
              <a:t>&lt; 60s</a:t>
            </a:r>
            <a:endParaRPr lang="en-US" sz="3400" dirty="0"/>
          </a:p>
        </p:txBody>
      </p:sp>
      <p:sp>
        <p:nvSpPr>
          <p:cNvPr id="12" name="Text 10"/>
          <p:cNvSpPr txBox="1"/>
          <p:nvPr/>
        </p:nvSpPr>
        <p:spPr>
          <a:xfrm>
            <a:off x="8513064" y="3657600"/>
            <a:ext cx="2862072" cy="960120"/>
          </a:xfrm>
          <a:prstGeom prst="rect">
            <a:avLst/>
          </a:prstGeom>
          <a:noFill/>
          <a:ln/>
        </p:spPr>
        <p:txBody>
          <a:bodyPr wrap="square" lIns="0" tIns="0" rIns="0" bIns="0" rtlCol="0" anchor="ctr"/>
          <a:lstStyle/>
          <a:p>
            <a:pPr algn="ctr" indent="0" marL="0">
              <a:buNone/>
            </a:pPr>
            <a:r>
              <a:rPr lang="en-US" sz="1150" dirty="0">
                <a:solidFill>
                  <a:srgbClr val="9A9AA2"/>
                </a:solidFill>
                <a:latin typeface="Calibri" pitchFamily="34" charset="0"/>
                <a:ea typeface="Calibri" pitchFamily="34" charset="-122"/>
                <a:cs typeface="Calibri" pitchFamily="34" charset="-120"/>
              </a:rPr>
              <a:t>Total time for that full batch — parsing, embedding, and scoring</a:t>
            </a:r>
            <a:endParaRPr lang="en-US" sz="1150" dirty="0"/>
          </a:p>
        </p:txBody>
      </p:sp>
      <p:sp>
        <p:nvSpPr>
          <p:cNvPr id="13" name="Shape 11"/>
          <p:cNvSpPr/>
          <p:nvPr/>
        </p:nvSpPr>
        <p:spPr>
          <a:xfrm>
            <a:off x="640080" y="5029200"/>
            <a:ext cx="10881360" cy="960120"/>
          </a:xfrm>
          <a:prstGeom prst="roundRect">
            <a:avLst>
              <a:gd name="adj" fmla="val 11429"/>
            </a:avLst>
          </a:prstGeom>
          <a:solidFill>
            <a:srgbClr val="132A1B"/>
          </a:solidFill>
          <a:ln/>
          <a:effectLst>
            <a:outerShdw sx="100000" sy="100000" kx="0" ky="0" algn="bl" rotWithShape="0" blurRad="101600" dist="38100" dir="5400000">
              <a:srgbClr val="000000">
                <a:alpha val="35000"/>
              </a:srgbClr>
            </a:outerShdw>
          </a:effectLst>
        </p:spPr>
      </p:sp>
      <p:sp>
        <p:nvSpPr>
          <p:cNvPr id="14" name="Text 12"/>
          <p:cNvSpPr txBox="1"/>
          <p:nvPr/>
        </p:nvSpPr>
        <p:spPr>
          <a:xfrm>
            <a:off x="960120" y="5029200"/>
            <a:ext cx="10241280" cy="960120"/>
          </a:xfrm>
          <a:prstGeom prst="rect">
            <a:avLst/>
          </a:prstGeom>
          <a:noFill/>
          <a:ln/>
        </p:spPr>
        <p:txBody>
          <a:bodyPr wrap="square" lIns="0" tIns="0" rIns="0" bIns="0" rtlCol="0" anchor="ctr"/>
          <a:lstStyle/>
          <a:p>
            <a:pPr indent="0" marL="0">
              <a:buNone/>
            </a:pPr>
            <a:r>
              <a:rPr lang="en-US" sz="1350" b="1" i="1" dirty="0">
                <a:solidFill>
                  <a:srgbClr val="30D158"/>
                </a:solidFill>
                <a:latin typeface="Calibri" pitchFamily="34" charset="0"/>
                <a:ea typeface="Calibri" pitchFamily="34" charset="-122"/>
                <a:cs typeface="Calibri" pitchFamily="34" charset="-120"/>
              </a:rPr>
              <a:t>A meaningful spread means the ranking is actually doing work — not just assigning everyone a similar, unhelpful score.</a:t>
            </a:r>
            <a:endParaRPr lang="en-US" sz="1350" dirty="0"/>
          </a:p>
        </p:txBody>
      </p:sp>
      <p:sp>
        <p:nvSpPr>
          <p:cNvPr id="15" name="Text 13"/>
          <p:cNvSpPr txBox="1"/>
          <p:nvPr/>
        </p:nvSpPr>
        <p:spPr>
          <a:xfrm>
            <a:off x="457200" y="6473952"/>
            <a:ext cx="7315200" cy="274320"/>
          </a:xfrm>
          <a:prstGeom prst="rect">
            <a:avLst/>
          </a:prstGeom>
          <a:noFill/>
          <a:ln/>
        </p:spPr>
        <p:txBody>
          <a:bodyPr wrap="square" lIns="0" tIns="0" rIns="0" bIns="0" rtlCol="0" anchor="ctr"/>
          <a:lstStyle/>
          <a:p>
            <a:pPr indent="0" marL="0">
              <a:buNone/>
            </a:pPr>
            <a:r>
              <a:rPr lang="en-US" sz="900" dirty="0">
                <a:solidFill>
                  <a:srgbClr val="9A9AA2"/>
                </a:solidFill>
                <a:latin typeface="Calibri" pitchFamily="34" charset="0"/>
                <a:ea typeface="Calibri" pitchFamily="34" charset="-122"/>
                <a:cs typeface="Calibri" pitchFamily="34" charset="-120"/>
              </a:rPr>
              <a:t>Resumeeit — Smart Shortlisting Engine</a:t>
            </a:r>
            <a:endParaRPr lang="en-US" sz="900" dirty="0"/>
          </a:p>
        </p:txBody>
      </p:sp>
      <p:sp>
        <p:nvSpPr>
          <p:cNvPr id="16" name="Text 14"/>
          <p:cNvSpPr txBox="1"/>
          <p:nvPr/>
        </p:nvSpPr>
        <p:spPr>
          <a:xfrm>
            <a:off x="11000232" y="6473952"/>
            <a:ext cx="731520" cy="274320"/>
          </a:xfrm>
          <a:prstGeom prst="rect">
            <a:avLst/>
          </a:prstGeom>
          <a:noFill/>
          <a:ln/>
        </p:spPr>
        <p:txBody>
          <a:bodyPr wrap="square" lIns="0" tIns="0" rIns="0" bIns="0" rtlCol="0" anchor="ctr"/>
          <a:lstStyle/>
          <a:p>
            <a:pPr algn="r" indent="0" marL="0">
              <a:buNone/>
            </a:pPr>
            <a:r>
              <a:rPr lang="en-US" sz="900" dirty="0">
                <a:solidFill>
                  <a:srgbClr val="9A9AA2"/>
                </a:solidFill>
                <a:latin typeface="Calibri" pitchFamily="34" charset="0"/>
                <a:ea typeface="Calibri" pitchFamily="34" charset="-122"/>
                <a:cs typeface="Calibri" pitchFamily="34" charset="-120"/>
              </a:rPr>
              <a:t>09 / 10</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0A0A"/>
        </a:solidFill>
      </p:bgPr>
    </p:bg>
    <p:spTree>
      <p:nvGrpSpPr>
        <p:cNvPr id="1" name=""/>
        <p:cNvGrpSpPr/>
        <p:nvPr/>
      </p:nvGrpSpPr>
      <p:grpSpPr>
        <a:xfrm>
          <a:off x="0" y="0"/>
          <a:ext cx="0" cy="0"/>
          <a:chOff x="0" y="0"/>
          <a:chExt cx="0" cy="0"/>
        </a:xfrm>
      </p:grpSpPr>
      <p:sp>
        <p:nvSpPr>
          <p:cNvPr id="2" name="Shape 0"/>
          <p:cNvSpPr/>
          <p:nvPr/>
        </p:nvSpPr>
        <p:spPr>
          <a:xfrm>
            <a:off x="-2286000" y="-2286000"/>
            <a:ext cx="6400800" cy="6400800"/>
          </a:xfrm>
          <a:prstGeom prst="ellipse">
            <a:avLst/>
          </a:prstGeom>
          <a:solidFill>
            <a:srgbClr val="5E5CE6">
              <a:alpha val="12000"/>
            </a:srgbClr>
          </a:solidFill>
          <a:ln/>
        </p:spPr>
      </p:sp>
      <p:sp>
        <p:nvSpPr>
          <p:cNvPr id="3" name="Shape 1"/>
          <p:cNvSpPr/>
          <p:nvPr/>
        </p:nvSpPr>
        <p:spPr>
          <a:xfrm>
            <a:off x="8229600" y="3657600"/>
            <a:ext cx="5486400" cy="5486400"/>
          </a:xfrm>
          <a:prstGeom prst="ellipse">
            <a:avLst/>
          </a:prstGeom>
          <a:solidFill>
            <a:srgbClr val="5E5CE6">
              <a:alpha val="8000"/>
            </a:srgbClr>
          </a:solidFill>
          <a:ln/>
        </p:spPr>
      </p:sp>
      <p:sp>
        <p:nvSpPr>
          <p:cNvPr id="4" name="Text 2"/>
          <p:cNvSpPr txBox="1"/>
          <p:nvPr/>
        </p:nvSpPr>
        <p:spPr>
          <a:xfrm>
            <a:off x="822960" y="2103120"/>
            <a:ext cx="10515600" cy="1005840"/>
          </a:xfrm>
          <a:prstGeom prst="rect">
            <a:avLst/>
          </a:prstGeom>
          <a:noFill/>
          <a:ln/>
        </p:spPr>
        <p:txBody>
          <a:bodyPr wrap="square" lIns="0" tIns="0" rIns="0" bIns="0" rtlCol="0" anchor="ctr"/>
          <a:lstStyle/>
          <a:p>
            <a:pPr indent="0" marL="0">
              <a:buNone/>
            </a:pPr>
            <a:r>
              <a:rPr lang="en-US" sz="5200" b="1" dirty="0">
                <a:solidFill>
                  <a:srgbClr val="F5F5F7"/>
                </a:solidFill>
                <a:latin typeface="Calibri" pitchFamily="34" charset="0"/>
                <a:ea typeface="Calibri" pitchFamily="34" charset="-122"/>
                <a:cs typeface="Calibri" pitchFamily="34" charset="-120"/>
              </a:rPr>
              <a:t>Thank you</a:t>
            </a:r>
            <a:endParaRPr lang="en-US" sz="5200" dirty="0"/>
          </a:p>
        </p:txBody>
      </p:sp>
      <p:sp>
        <p:nvSpPr>
          <p:cNvPr id="5" name="Text 3"/>
          <p:cNvSpPr txBox="1"/>
          <p:nvPr/>
        </p:nvSpPr>
        <p:spPr>
          <a:xfrm>
            <a:off x="822960" y="3063240"/>
            <a:ext cx="9601200" cy="548640"/>
          </a:xfrm>
          <a:prstGeom prst="rect">
            <a:avLst/>
          </a:prstGeom>
          <a:noFill/>
          <a:ln/>
        </p:spPr>
        <p:txBody>
          <a:bodyPr wrap="square" lIns="0" tIns="0" rIns="0" bIns="0" rtlCol="0" anchor="ctr"/>
          <a:lstStyle/>
          <a:p>
            <a:pPr indent="0" marL="0">
              <a:buNone/>
            </a:pPr>
            <a:r>
              <a:rPr lang="en-US" sz="1700" dirty="0">
                <a:solidFill>
                  <a:srgbClr val="5E5CE6"/>
                </a:solidFill>
                <a:latin typeface="Calibri" pitchFamily="34" charset="0"/>
                <a:ea typeface="Calibri" pitchFamily="34" charset="-122"/>
                <a:cs typeface="Calibri" pitchFamily="34" charset="-120"/>
              </a:rPr>
              <a:t>Resumeeit — from job description to signed offer, one explainable pipeline.</a:t>
            </a:r>
            <a:endParaRPr lang="en-US" sz="1700" dirty="0"/>
          </a:p>
        </p:txBody>
      </p:sp>
      <p:sp>
        <p:nvSpPr>
          <p:cNvPr id="6" name="Shape 4"/>
          <p:cNvSpPr/>
          <p:nvPr/>
        </p:nvSpPr>
        <p:spPr>
          <a:xfrm>
            <a:off x="822960" y="4114800"/>
            <a:ext cx="10515600" cy="1188720"/>
          </a:xfrm>
          <a:prstGeom prst="roundRect">
            <a:avLst>
              <a:gd name="adj" fmla="val 9231"/>
            </a:avLst>
          </a:prstGeom>
          <a:solidFill>
            <a:srgbClr val="17171B"/>
          </a:solidFill>
          <a:ln/>
          <a:effectLst>
            <a:outerShdw sx="100000" sy="100000" kx="0" ky="0" algn="bl" rotWithShape="0" blurRad="101600" dist="38100" dir="5400000">
              <a:srgbClr val="000000">
                <a:alpha val="35000"/>
              </a:srgbClr>
            </a:outerShdw>
          </a:effectLst>
        </p:spPr>
      </p:sp>
      <p:sp>
        <p:nvSpPr>
          <p:cNvPr id="7" name="Text 5"/>
          <p:cNvSpPr txBox="1"/>
          <p:nvPr/>
        </p:nvSpPr>
        <p:spPr>
          <a:xfrm>
            <a:off x="1143000" y="4114800"/>
            <a:ext cx="9875520" cy="1188720"/>
          </a:xfrm>
          <a:prstGeom prst="rect">
            <a:avLst/>
          </a:prstGeom>
          <a:noFill/>
          <a:ln/>
        </p:spPr>
        <p:txBody>
          <a:bodyPr wrap="square" lIns="0" tIns="0" rIns="0" bIns="0" rtlCol="0" anchor="ctr"/>
          <a:lstStyle/>
          <a:p>
            <a:pPr indent="0" marL="0">
              <a:buNone/>
            </a:pPr>
            <a:r>
              <a:rPr lang="en-US" sz="1500" b="1" dirty="0">
                <a:solidFill>
                  <a:srgbClr val="F5F5F7"/>
                </a:solidFill>
                <a:latin typeface="Calibri" pitchFamily="34" charset="0"/>
                <a:ea typeface="Calibri" pitchFamily="34" charset="-122"/>
                <a:cs typeface="Calibri" pitchFamily="34" charset="-120"/>
              </a:rPr>
              <a:t>Happy to walk through the code, the architecture, or run a live demo. </a:t>
            </a:r>
            <a:pPr indent="0" marL="0">
              <a:buNone/>
            </a:pPr>
            <a:r>
              <a:rPr lang="en-US" sz="1500" b="1" dirty="0">
                <a:solidFill>
                  <a:srgbClr val="5E5CE6"/>
                </a:solidFill>
                <a:latin typeface="Calibri" pitchFamily="34" charset="0"/>
                <a:ea typeface="Calibri" pitchFamily="34" charset="-122"/>
                <a:cs typeface="Calibri" pitchFamily="34" charset="-120"/>
              </a:rPr>
              <a:t>Questions?</a:t>
            </a:r>
            <a:endParaRPr lang="en-US" sz="1500" dirty="0"/>
          </a:p>
        </p:txBody>
      </p:sp>
      <p:sp>
        <p:nvSpPr>
          <p:cNvPr id="8" name="Text 6"/>
          <p:cNvSpPr txBox="1"/>
          <p:nvPr/>
        </p:nvSpPr>
        <p:spPr>
          <a:xfrm>
            <a:off x="822960" y="6035040"/>
            <a:ext cx="7315200" cy="365760"/>
          </a:xfrm>
          <a:prstGeom prst="rect">
            <a:avLst/>
          </a:prstGeom>
          <a:noFill/>
          <a:ln/>
        </p:spPr>
        <p:txBody>
          <a:bodyPr wrap="square" lIns="0" tIns="0" rIns="0" bIns="0" rtlCol="0" anchor="ctr"/>
          <a:lstStyle/>
          <a:p>
            <a:pPr indent="0" marL="0">
              <a:buNone/>
            </a:pPr>
            <a:r>
              <a:rPr lang="en-US" sz="1100" dirty="0">
                <a:solidFill>
                  <a:srgbClr val="9A9AA2"/>
                </a:solidFill>
                <a:latin typeface="Calibri" pitchFamily="34" charset="0"/>
                <a:ea typeface="Calibri" pitchFamily="34" charset="-122"/>
                <a:cs typeface="Calibri" pitchFamily="34" charset="-120"/>
              </a:rPr>
              <a:t>InternLoom AI Hackathon · Manipal Institute of Technology</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2026-09-12T10:54:35Z</dcterms:created>
  <dcterms:modified xsi:type="dcterms:W3CDTF">2026-09-12T10:54:35Z</dcterms:modified>
</cp:coreProperties>
</file>